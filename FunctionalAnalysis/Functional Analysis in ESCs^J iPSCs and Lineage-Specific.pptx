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58" r:id="rId5"/>
    <p:sldId id="260" r:id="rId6"/>
    <p:sldId id="261" r:id="rId7"/>
    <p:sldId id="259" r:id="rId8"/>
    <p:sldId id="263" r:id="rId9"/>
    <p:sldId id="264" r:id="rId10"/>
    <p:sldId id="265" r:id="rId11"/>
    <p:sldId id="266" r:id="rId12"/>
    <p:sldId id="267" r:id="rId13"/>
    <p:sldId id="268" r:id="rId14"/>
    <p:sldId id="273" r:id="rId15"/>
    <p:sldId id="271"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898BE0-967A-4173-9649-29A0578ECAE9}" v="25" dt="2025-12-18T12:07:53.177"/>
  </p1510:revLst>
</p1510:revInfo>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70C74-DEAF-6DBD-BBEC-57FE51CA13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74483E0-0894-953E-AFC1-2A31CDB85E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69E86EE-F41D-CA51-1973-8C0C9CA75203}"/>
              </a:ext>
            </a:extLst>
          </p:cNvPr>
          <p:cNvSpPr>
            <a:spLocks noGrp="1"/>
          </p:cNvSpPr>
          <p:nvPr>
            <p:ph type="dt" sz="half" idx="10"/>
          </p:nvPr>
        </p:nvSpPr>
        <p:spPr/>
        <p:txBody>
          <a:bodyPr/>
          <a:lstStyle/>
          <a:p>
            <a:fld id="{D9D03A89-5BE2-409F-9504-28E037A79410}" type="datetimeFigureOut">
              <a:rPr lang="en-IN" smtClean="0"/>
              <a:t>19-12-25</a:t>
            </a:fld>
            <a:endParaRPr lang="en-IN"/>
          </a:p>
        </p:txBody>
      </p:sp>
      <p:sp>
        <p:nvSpPr>
          <p:cNvPr id="5" name="Footer Placeholder 4">
            <a:extLst>
              <a:ext uri="{FF2B5EF4-FFF2-40B4-BE49-F238E27FC236}">
                <a16:creationId xmlns:a16="http://schemas.microsoft.com/office/drawing/2014/main" id="{661409FE-5B41-E8DB-2872-EB61A2AFC9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EC4F9C-2585-087C-8203-C89DCE298F3C}"/>
              </a:ext>
            </a:extLst>
          </p:cNvPr>
          <p:cNvSpPr>
            <a:spLocks noGrp="1"/>
          </p:cNvSpPr>
          <p:nvPr>
            <p:ph type="sldNum" sz="quarter" idx="12"/>
          </p:nvPr>
        </p:nvSpPr>
        <p:spPr/>
        <p:txBody>
          <a:bodyPr/>
          <a:lstStyle/>
          <a:p>
            <a:fld id="{54C58C6A-1878-4031-9474-D801B744A3C6}" type="slidenum">
              <a:rPr lang="en-IN" smtClean="0"/>
              <a:t>‹#›</a:t>
            </a:fld>
            <a:endParaRPr lang="en-IN"/>
          </a:p>
        </p:txBody>
      </p:sp>
    </p:spTree>
    <p:extLst>
      <p:ext uri="{BB962C8B-B14F-4D97-AF65-F5344CB8AC3E}">
        <p14:creationId xmlns:p14="http://schemas.microsoft.com/office/powerpoint/2010/main" val="81407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16A2F-EA50-A782-ECCD-84BAF07223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F85675-C7F2-CFEF-372E-8F787E0BD5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B46BF3-1A2C-D5BA-2485-CF4BF7A14BEB}"/>
              </a:ext>
            </a:extLst>
          </p:cNvPr>
          <p:cNvSpPr>
            <a:spLocks noGrp="1"/>
          </p:cNvSpPr>
          <p:nvPr>
            <p:ph type="dt" sz="half" idx="10"/>
          </p:nvPr>
        </p:nvSpPr>
        <p:spPr/>
        <p:txBody>
          <a:bodyPr/>
          <a:lstStyle/>
          <a:p>
            <a:fld id="{D9D03A89-5BE2-409F-9504-28E037A79410}" type="datetimeFigureOut">
              <a:rPr lang="en-IN" smtClean="0"/>
              <a:t>19-12-25</a:t>
            </a:fld>
            <a:endParaRPr lang="en-IN"/>
          </a:p>
        </p:txBody>
      </p:sp>
      <p:sp>
        <p:nvSpPr>
          <p:cNvPr id="5" name="Footer Placeholder 4">
            <a:extLst>
              <a:ext uri="{FF2B5EF4-FFF2-40B4-BE49-F238E27FC236}">
                <a16:creationId xmlns:a16="http://schemas.microsoft.com/office/drawing/2014/main" id="{EFD1A33C-F753-C966-A902-B731E71B06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112C41-2146-9794-632E-8AB2196234A0}"/>
              </a:ext>
            </a:extLst>
          </p:cNvPr>
          <p:cNvSpPr>
            <a:spLocks noGrp="1"/>
          </p:cNvSpPr>
          <p:nvPr>
            <p:ph type="sldNum" sz="quarter" idx="12"/>
          </p:nvPr>
        </p:nvSpPr>
        <p:spPr/>
        <p:txBody>
          <a:bodyPr/>
          <a:lstStyle/>
          <a:p>
            <a:fld id="{54C58C6A-1878-4031-9474-D801B744A3C6}" type="slidenum">
              <a:rPr lang="en-IN" smtClean="0"/>
              <a:t>‹#›</a:t>
            </a:fld>
            <a:endParaRPr lang="en-IN"/>
          </a:p>
        </p:txBody>
      </p:sp>
    </p:spTree>
    <p:extLst>
      <p:ext uri="{BB962C8B-B14F-4D97-AF65-F5344CB8AC3E}">
        <p14:creationId xmlns:p14="http://schemas.microsoft.com/office/powerpoint/2010/main" val="3863215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6FC40-518D-7477-61B4-A49485BAFC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CED66FD-812C-A633-C5D0-44FBD15846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71CD17-D7B7-DEC9-0482-490F01D5AA69}"/>
              </a:ext>
            </a:extLst>
          </p:cNvPr>
          <p:cNvSpPr>
            <a:spLocks noGrp="1"/>
          </p:cNvSpPr>
          <p:nvPr>
            <p:ph type="dt" sz="half" idx="10"/>
          </p:nvPr>
        </p:nvSpPr>
        <p:spPr/>
        <p:txBody>
          <a:bodyPr/>
          <a:lstStyle/>
          <a:p>
            <a:fld id="{D9D03A89-5BE2-409F-9504-28E037A79410}" type="datetimeFigureOut">
              <a:rPr lang="en-IN" smtClean="0"/>
              <a:t>19-12-25</a:t>
            </a:fld>
            <a:endParaRPr lang="en-IN"/>
          </a:p>
        </p:txBody>
      </p:sp>
      <p:sp>
        <p:nvSpPr>
          <p:cNvPr id="5" name="Footer Placeholder 4">
            <a:extLst>
              <a:ext uri="{FF2B5EF4-FFF2-40B4-BE49-F238E27FC236}">
                <a16:creationId xmlns:a16="http://schemas.microsoft.com/office/drawing/2014/main" id="{85DEC369-F378-E6CB-DFE8-81EA77A085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E7B037-90EE-0719-F843-E6D55D3CAC92}"/>
              </a:ext>
            </a:extLst>
          </p:cNvPr>
          <p:cNvSpPr>
            <a:spLocks noGrp="1"/>
          </p:cNvSpPr>
          <p:nvPr>
            <p:ph type="sldNum" sz="quarter" idx="12"/>
          </p:nvPr>
        </p:nvSpPr>
        <p:spPr/>
        <p:txBody>
          <a:bodyPr/>
          <a:lstStyle/>
          <a:p>
            <a:fld id="{54C58C6A-1878-4031-9474-D801B744A3C6}" type="slidenum">
              <a:rPr lang="en-IN" smtClean="0"/>
              <a:t>‹#›</a:t>
            </a:fld>
            <a:endParaRPr lang="en-IN"/>
          </a:p>
        </p:txBody>
      </p:sp>
    </p:spTree>
    <p:extLst>
      <p:ext uri="{BB962C8B-B14F-4D97-AF65-F5344CB8AC3E}">
        <p14:creationId xmlns:p14="http://schemas.microsoft.com/office/powerpoint/2010/main" val="4118382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34D5A-8BF0-2A8F-0D36-89B584EDDE2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79B1E9C-1E8B-1DE9-E556-98B6371D27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DDC259-1984-22F1-C01F-C27CA40F92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A2B009C-D6ED-5391-3FE8-4B47B8031BFB}"/>
              </a:ext>
            </a:extLst>
          </p:cNvPr>
          <p:cNvSpPr>
            <a:spLocks noGrp="1"/>
          </p:cNvSpPr>
          <p:nvPr>
            <p:ph type="dt" sz="half" idx="10"/>
          </p:nvPr>
        </p:nvSpPr>
        <p:spPr/>
        <p:txBody>
          <a:bodyPr/>
          <a:lstStyle/>
          <a:p>
            <a:fld id="{D9D03A89-5BE2-409F-9504-28E037A79410}" type="datetimeFigureOut">
              <a:rPr lang="en-IN" smtClean="0"/>
              <a:t>19-12-25</a:t>
            </a:fld>
            <a:endParaRPr lang="en-IN"/>
          </a:p>
        </p:txBody>
      </p:sp>
      <p:sp>
        <p:nvSpPr>
          <p:cNvPr id="6" name="Footer Placeholder 5">
            <a:extLst>
              <a:ext uri="{FF2B5EF4-FFF2-40B4-BE49-F238E27FC236}">
                <a16:creationId xmlns:a16="http://schemas.microsoft.com/office/drawing/2014/main" id="{E9747D28-F868-8DB5-4231-4384144C0E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D9F972-A5C2-2BBC-8B3A-5AEF9EDD7114}"/>
              </a:ext>
            </a:extLst>
          </p:cNvPr>
          <p:cNvSpPr>
            <a:spLocks noGrp="1"/>
          </p:cNvSpPr>
          <p:nvPr>
            <p:ph type="sldNum" sz="quarter" idx="12"/>
          </p:nvPr>
        </p:nvSpPr>
        <p:spPr/>
        <p:txBody>
          <a:bodyPr/>
          <a:lstStyle/>
          <a:p>
            <a:fld id="{54C58C6A-1878-4031-9474-D801B744A3C6}" type="slidenum">
              <a:rPr lang="en-IN" smtClean="0"/>
              <a:t>‹#›</a:t>
            </a:fld>
            <a:endParaRPr lang="en-IN"/>
          </a:p>
        </p:txBody>
      </p:sp>
    </p:spTree>
    <p:extLst>
      <p:ext uri="{BB962C8B-B14F-4D97-AF65-F5344CB8AC3E}">
        <p14:creationId xmlns:p14="http://schemas.microsoft.com/office/powerpoint/2010/main" val="1121554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4D903-3ED4-785C-9A4E-BFA10E02389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45658A-3974-D17F-B195-06C3248275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8479DC-7FA8-28E5-9B13-489568A939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0FCB72C-B390-6B69-EA1C-6FCABDBBCF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0FDC30-184C-778B-528C-689EB11B5E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1E3C106-B4C5-6930-95D7-835C83CE6089}"/>
              </a:ext>
            </a:extLst>
          </p:cNvPr>
          <p:cNvSpPr>
            <a:spLocks noGrp="1"/>
          </p:cNvSpPr>
          <p:nvPr>
            <p:ph type="dt" sz="half" idx="10"/>
          </p:nvPr>
        </p:nvSpPr>
        <p:spPr/>
        <p:txBody>
          <a:bodyPr/>
          <a:lstStyle/>
          <a:p>
            <a:fld id="{D9D03A89-5BE2-409F-9504-28E037A79410}" type="datetimeFigureOut">
              <a:rPr lang="en-IN" smtClean="0"/>
              <a:t>19-12-25</a:t>
            </a:fld>
            <a:endParaRPr lang="en-IN"/>
          </a:p>
        </p:txBody>
      </p:sp>
      <p:sp>
        <p:nvSpPr>
          <p:cNvPr id="8" name="Footer Placeholder 7">
            <a:extLst>
              <a:ext uri="{FF2B5EF4-FFF2-40B4-BE49-F238E27FC236}">
                <a16:creationId xmlns:a16="http://schemas.microsoft.com/office/drawing/2014/main" id="{583EE21C-799B-B615-E3B9-6955AD58B71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48EF973-1778-83D7-15B9-D8F685C67DC6}"/>
              </a:ext>
            </a:extLst>
          </p:cNvPr>
          <p:cNvSpPr>
            <a:spLocks noGrp="1"/>
          </p:cNvSpPr>
          <p:nvPr>
            <p:ph type="sldNum" sz="quarter" idx="12"/>
          </p:nvPr>
        </p:nvSpPr>
        <p:spPr/>
        <p:txBody>
          <a:bodyPr/>
          <a:lstStyle/>
          <a:p>
            <a:fld id="{54C58C6A-1878-4031-9474-D801B744A3C6}" type="slidenum">
              <a:rPr lang="en-IN" smtClean="0"/>
              <a:t>‹#›</a:t>
            </a:fld>
            <a:endParaRPr lang="en-IN"/>
          </a:p>
        </p:txBody>
      </p:sp>
    </p:spTree>
    <p:extLst>
      <p:ext uri="{BB962C8B-B14F-4D97-AF65-F5344CB8AC3E}">
        <p14:creationId xmlns:p14="http://schemas.microsoft.com/office/powerpoint/2010/main" val="2059142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42E5A-4519-2687-6628-06EF619FB04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EE3D77B-61C8-E267-75B1-BCB1FBBFEAA6}"/>
              </a:ext>
            </a:extLst>
          </p:cNvPr>
          <p:cNvSpPr>
            <a:spLocks noGrp="1"/>
          </p:cNvSpPr>
          <p:nvPr>
            <p:ph type="dt" sz="half" idx="10"/>
          </p:nvPr>
        </p:nvSpPr>
        <p:spPr/>
        <p:txBody>
          <a:bodyPr/>
          <a:lstStyle/>
          <a:p>
            <a:fld id="{D9D03A89-5BE2-409F-9504-28E037A79410}" type="datetimeFigureOut">
              <a:rPr lang="en-IN" smtClean="0"/>
              <a:t>19-12-25</a:t>
            </a:fld>
            <a:endParaRPr lang="en-IN"/>
          </a:p>
        </p:txBody>
      </p:sp>
      <p:sp>
        <p:nvSpPr>
          <p:cNvPr id="4" name="Footer Placeholder 3">
            <a:extLst>
              <a:ext uri="{FF2B5EF4-FFF2-40B4-BE49-F238E27FC236}">
                <a16:creationId xmlns:a16="http://schemas.microsoft.com/office/drawing/2014/main" id="{6C2F1890-8989-7F04-D2CE-E35DF57D842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8572AF7-8086-82D2-134C-579ABA0D19A2}"/>
              </a:ext>
            </a:extLst>
          </p:cNvPr>
          <p:cNvSpPr>
            <a:spLocks noGrp="1"/>
          </p:cNvSpPr>
          <p:nvPr>
            <p:ph type="sldNum" sz="quarter" idx="12"/>
          </p:nvPr>
        </p:nvSpPr>
        <p:spPr/>
        <p:txBody>
          <a:bodyPr/>
          <a:lstStyle/>
          <a:p>
            <a:fld id="{54C58C6A-1878-4031-9474-D801B744A3C6}" type="slidenum">
              <a:rPr lang="en-IN" smtClean="0"/>
              <a:t>‹#›</a:t>
            </a:fld>
            <a:endParaRPr lang="en-IN"/>
          </a:p>
        </p:txBody>
      </p:sp>
    </p:spTree>
    <p:extLst>
      <p:ext uri="{BB962C8B-B14F-4D97-AF65-F5344CB8AC3E}">
        <p14:creationId xmlns:p14="http://schemas.microsoft.com/office/powerpoint/2010/main" val="2436021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D47821-BDD3-C297-3966-4F1DBD58E35C}"/>
              </a:ext>
            </a:extLst>
          </p:cNvPr>
          <p:cNvSpPr>
            <a:spLocks noGrp="1"/>
          </p:cNvSpPr>
          <p:nvPr>
            <p:ph type="dt" sz="half" idx="10"/>
          </p:nvPr>
        </p:nvSpPr>
        <p:spPr/>
        <p:txBody>
          <a:bodyPr/>
          <a:lstStyle/>
          <a:p>
            <a:fld id="{D9D03A89-5BE2-409F-9504-28E037A79410}" type="datetimeFigureOut">
              <a:rPr lang="en-IN" smtClean="0"/>
              <a:t>19-12-25</a:t>
            </a:fld>
            <a:endParaRPr lang="en-IN"/>
          </a:p>
        </p:txBody>
      </p:sp>
      <p:sp>
        <p:nvSpPr>
          <p:cNvPr id="3" name="Footer Placeholder 2">
            <a:extLst>
              <a:ext uri="{FF2B5EF4-FFF2-40B4-BE49-F238E27FC236}">
                <a16:creationId xmlns:a16="http://schemas.microsoft.com/office/drawing/2014/main" id="{1C837176-3E6C-8539-7CB3-3D013C3AAB0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F71CF64-682A-D86B-0D06-0C17348599BA}"/>
              </a:ext>
            </a:extLst>
          </p:cNvPr>
          <p:cNvSpPr>
            <a:spLocks noGrp="1"/>
          </p:cNvSpPr>
          <p:nvPr>
            <p:ph type="sldNum" sz="quarter" idx="12"/>
          </p:nvPr>
        </p:nvSpPr>
        <p:spPr/>
        <p:txBody>
          <a:bodyPr/>
          <a:lstStyle/>
          <a:p>
            <a:fld id="{54C58C6A-1878-4031-9474-D801B744A3C6}" type="slidenum">
              <a:rPr lang="en-IN" smtClean="0"/>
              <a:t>‹#›</a:t>
            </a:fld>
            <a:endParaRPr lang="en-IN"/>
          </a:p>
        </p:txBody>
      </p:sp>
    </p:spTree>
    <p:extLst>
      <p:ext uri="{BB962C8B-B14F-4D97-AF65-F5344CB8AC3E}">
        <p14:creationId xmlns:p14="http://schemas.microsoft.com/office/powerpoint/2010/main" val="1323637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8EADE-F5CD-330F-0290-5FAC11AC70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540EFF8-FAA8-1F02-B773-0B70F65F5F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33E2808-5762-C73A-B0B5-7706C3CBB7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8FD9F3-BD7B-2839-2DF7-8316DD10D565}"/>
              </a:ext>
            </a:extLst>
          </p:cNvPr>
          <p:cNvSpPr>
            <a:spLocks noGrp="1"/>
          </p:cNvSpPr>
          <p:nvPr>
            <p:ph type="dt" sz="half" idx="10"/>
          </p:nvPr>
        </p:nvSpPr>
        <p:spPr/>
        <p:txBody>
          <a:bodyPr/>
          <a:lstStyle/>
          <a:p>
            <a:fld id="{D9D03A89-5BE2-409F-9504-28E037A79410}" type="datetimeFigureOut">
              <a:rPr lang="en-IN" smtClean="0"/>
              <a:t>19-12-25</a:t>
            </a:fld>
            <a:endParaRPr lang="en-IN"/>
          </a:p>
        </p:txBody>
      </p:sp>
      <p:sp>
        <p:nvSpPr>
          <p:cNvPr id="6" name="Footer Placeholder 5">
            <a:extLst>
              <a:ext uri="{FF2B5EF4-FFF2-40B4-BE49-F238E27FC236}">
                <a16:creationId xmlns:a16="http://schemas.microsoft.com/office/drawing/2014/main" id="{F0E56FAA-7D2D-1EBF-BB1B-14DA972D71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10FD7A-BD48-C04A-5BB0-333F038BB17A}"/>
              </a:ext>
            </a:extLst>
          </p:cNvPr>
          <p:cNvSpPr>
            <a:spLocks noGrp="1"/>
          </p:cNvSpPr>
          <p:nvPr>
            <p:ph type="sldNum" sz="quarter" idx="12"/>
          </p:nvPr>
        </p:nvSpPr>
        <p:spPr/>
        <p:txBody>
          <a:bodyPr/>
          <a:lstStyle/>
          <a:p>
            <a:fld id="{54C58C6A-1878-4031-9474-D801B744A3C6}" type="slidenum">
              <a:rPr lang="en-IN" smtClean="0"/>
              <a:t>‹#›</a:t>
            </a:fld>
            <a:endParaRPr lang="en-IN"/>
          </a:p>
        </p:txBody>
      </p:sp>
    </p:spTree>
    <p:extLst>
      <p:ext uri="{BB962C8B-B14F-4D97-AF65-F5344CB8AC3E}">
        <p14:creationId xmlns:p14="http://schemas.microsoft.com/office/powerpoint/2010/main" val="4155507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FBE36-8A83-2C23-A361-8A06E87858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ADAD59F-4B52-3A14-5BAF-EBDC66B758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A3D2DDC-1DB2-CBF7-6608-12B777BF0A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385744-41EB-0A29-23BA-BCB4AEEE2174}"/>
              </a:ext>
            </a:extLst>
          </p:cNvPr>
          <p:cNvSpPr>
            <a:spLocks noGrp="1"/>
          </p:cNvSpPr>
          <p:nvPr>
            <p:ph type="dt" sz="half" idx="10"/>
          </p:nvPr>
        </p:nvSpPr>
        <p:spPr/>
        <p:txBody>
          <a:bodyPr/>
          <a:lstStyle/>
          <a:p>
            <a:fld id="{D9D03A89-5BE2-409F-9504-28E037A79410}" type="datetimeFigureOut">
              <a:rPr lang="en-IN" smtClean="0"/>
              <a:t>19-12-25</a:t>
            </a:fld>
            <a:endParaRPr lang="en-IN"/>
          </a:p>
        </p:txBody>
      </p:sp>
      <p:sp>
        <p:nvSpPr>
          <p:cNvPr id="6" name="Footer Placeholder 5">
            <a:extLst>
              <a:ext uri="{FF2B5EF4-FFF2-40B4-BE49-F238E27FC236}">
                <a16:creationId xmlns:a16="http://schemas.microsoft.com/office/drawing/2014/main" id="{54C4B715-6F75-4053-EB61-BE3B88018F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8B1C2D-A391-7A2C-9928-107AD173CC58}"/>
              </a:ext>
            </a:extLst>
          </p:cNvPr>
          <p:cNvSpPr>
            <a:spLocks noGrp="1"/>
          </p:cNvSpPr>
          <p:nvPr>
            <p:ph type="sldNum" sz="quarter" idx="12"/>
          </p:nvPr>
        </p:nvSpPr>
        <p:spPr/>
        <p:txBody>
          <a:bodyPr/>
          <a:lstStyle/>
          <a:p>
            <a:fld id="{54C58C6A-1878-4031-9474-D801B744A3C6}" type="slidenum">
              <a:rPr lang="en-IN" smtClean="0"/>
              <a:t>‹#›</a:t>
            </a:fld>
            <a:endParaRPr lang="en-IN"/>
          </a:p>
        </p:txBody>
      </p:sp>
    </p:spTree>
    <p:extLst>
      <p:ext uri="{BB962C8B-B14F-4D97-AF65-F5344CB8AC3E}">
        <p14:creationId xmlns:p14="http://schemas.microsoft.com/office/powerpoint/2010/main" val="4195966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D8643-BB9A-729A-C81A-B3871A28B7D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C770B0-B4C2-E7BE-89EE-F833DE69A0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B90BAC-616E-8BED-CD21-4B02F1AD6C45}"/>
              </a:ext>
            </a:extLst>
          </p:cNvPr>
          <p:cNvSpPr>
            <a:spLocks noGrp="1"/>
          </p:cNvSpPr>
          <p:nvPr>
            <p:ph type="dt" sz="half" idx="10"/>
          </p:nvPr>
        </p:nvSpPr>
        <p:spPr/>
        <p:txBody>
          <a:bodyPr/>
          <a:lstStyle/>
          <a:p>
            <a:fld id="{D9D03A89-5BE2-409F-9504-28E037A79410}" type="datetimeFigureOut">
              <a:rPr lang="en-IN" smtClean="0"/>
              <a:t>19-12-25</a:t>
            </a:fld>
            <a:endParaRPr lang="en-IN"/>
          </a:p>
        </p:txBody>
      </p:sp>
      <p:sp>
        <p:nvSpPr>
          <p:cNvPr id="5" name="Footer Placeholder 4">
            <a:extLst>
              <a:ext uri="{FF2B5EF4-FFF2-40B4-BE49-F238E27FC236}">
                <a16:creationId xmlns:a16="http://schemas.microsoft.com/office/drawing/2014/main" id="{2D664D7F-924F-D728-77BD-E478D51D37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6AB4E4-00B6-2EA6-FA2E-C88714A7742B}"/>
              </a:ext>
            </a:extLst>
          </p:cNvPr>
          <p:cNvSpPr>
            <a:spLocks noGrp="1"/>
          </p:cNvSpPr>
          <p:nvPr>
            <p:ph type="sldNum" sz="quarter" idx="12"/>
          </p:nvPr>
        </p:nvSpPr>
        <p:spPr/>
        <p:txBody>
          <a:bodyPr/>
          <a:lstStyle/>
          <a:p>
            <a:fld id="{54C58C6A-1878-4031-9474-D801B744A3C6}" type="slidenum">
              <a:rPr lang="en-IN" smtClean="0"/>
              <a:t>‹#›</a:t>
            </a:fld>
            <a:endParaRPr lang="en-IN"/>
          </a:p>
        </p:txBody>
      </p:sp>
    </p:spTree>
    <p:extLst>
      <p:ext uri="{BB962C8B-B14F-4D97-AF65-F5344CB8AC3E}">
        <p14:creationId xmlns:p14="http://schemas.microsoft.com/office/powerpoint/2010/main" val="2225247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593F16-7BDE-8D5E-8B3E-A559F5EFCD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A27907A-7F92-772C-C930-0A2775C3B8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E239C9-0CAB-B1C1-4769-894DA466C65F}"/>
              </a:ext>
            </a:extLst>
          </p:cNvPr>
          <p:cNvSpPr>
            <a:spLocks noGrp="1"/>
          </p:cNvSpPr>
          <p:nvPr>
            <p:ph type="dt" sz="half" idx="10"/>
          </p:nvPr>
        </p:nvSpPr>
        <p:spPr/>
        <p:txBody>
          <a:bodyPr/>
          <a:lstStyle/>
          <a:p>
            <a:fld id="{D9D03A89-5BE2-409F-9504-28E037A79410}" type="datetimeFigureOut">
              <a:rPr lang="en-IN" smtClean="0"/>
              <a:t>19-12-25</a:t>
            </a:fld>
            <a:endParaRPr lang="en-IN"/>
          </a:p>
        </p:txBody>
      </p:sp>
      <p:sp>
        <p:nvSpPr>
          <p:cNvPr id="5" name="Footer Placeholder 4">
            <a:extLst>
              <a:ext uri="{FF2B5EF4-FFF2-40B4-BE49-F238E27FC236}">
                <a16:creationId xmlns:a16="http://schemas.microsoft.com/office/drawing/2014/main" id="{E89B4560-C2CD-2AE8-EFE1-2177DF5ED5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294D15-DEBF-B66C-C82B-D95B76A9D00F}"/>
              </a:ext>
            </a:extLst>
          </p:cNvPr>
          <p:cNvSpPr>
            <a:spLocks noGrp="1"/>
          </p:cNvSpPr>
          <p:nvPr>
            <p:ph type="sldNum" sz="quarter" idx="12"/>
          </p:nvPr>
        </p:nvSpPr>
        <p:spPr/>
        <p:txBody>
          <a:bodyPr/>
          <a:lstStyle/>
          <a:p>
            <a:fld id="{54C58C6A-1878-4031-9474-D801B744A3C6}" type="slidenum">
              <a:rPr lang="en-IN" smtClean="0"/>
              <a:t>‹#›</a:t>
            </a:fld>
            <a:endParaRPr lang="en-IN"/>
          </a:p>
        </p:txBody>
      </p:sp>
    </p:spTree>
    <p:extLst>
      <p:ext uri="{BB962C8B-B14F-4D97-AF65-F5344CB8AC3E}">
        <p14:creationId xmlns:p14="http://schemas.microsoft.com/office/powerpoint/2010/main" val="1982484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A5938-E646-47E6-A7ED-FFEA95F684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82B391-58BF-AA6B-3D7D-26B60F2AAD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5179FD-474D-7FDE-6F6F-F67F3ADC92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D03A89-5BE2-409F-9504-28E037A79410}" type="datetimeFigureOut">
              <a:rPr lang="en-IN" smtClean="0"/>
              <a:t>19-12-25</a:t>
            </a:fld>
            <a:endParaRPr lang="en-IN"/>
          </a:p>
        </p:txBody>
      </p:sp>
      <p:sp>
        <p:nvSpPr>
          <p:cNvPr id="5" name="Footer Placeholder 4">
            <a:extLst>
              <a:ext uri="{FF2B5EF4-FFF2-40B4-BE49-F238E27FC236}">
                <a16:creationId xmlns:a16="http://schemas.microsoft.com/office/drawing/2014/main" id="{67372436-C245-FA42-42C1-62CB9B2644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54AC5E0-EFFF-6CC0-5FAC-CE8CEAF1F2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C58C6A-1878-4031-9474-D801B744A3C6}" type="slidenum">
              <a:rPr lang="en-IN" smtClean="0"/>
              <a:t>‹#›</a:t>
            </a:fld>
            <a:endParaRPr lang="en-IN"/>
          </a:p>
        </p:txBody>
      </p:sp>
    </p:spTree>
    <p:extLst>
      <p:ext uri="{BB962C8B-B14F-4D97-AF65-F5344CB8AC3E}">
        <p14:creationId xmlns:p14="http://schemas.microsoft.com/office/powerpoint/2010/main" val="9769615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B45BA-C567-601D-DE88-4AEDD2FFDF53}"/>
              </a:ext>
            </a:extLst>
          </p:cNvPr>
          <p:cNvSpPr>
            <a:spLocks noGrp="1"/>
          </p:cNvSpPr>
          <p:nvPr>
            <p:ph type="ctrTitle"/>
          </p:nvPr>
        </p:nvSpPr>
        <p:spPr/>
        <p:txBody>
          <a:bodyPr>
            <a:normAutofit fontScale="90000"/>
          </a:bodyPr>
          <a:lstStyle/>
          <a:p>
            <a:r>
              <a:rPr lang="en-US" b="1" dirty="0"/>
              <a:t>Functional Analysis in ESCs, iPSCs and Lineage-Specific Derivatives</a:t>
            </a:r>
            <a:endParaRPr lang="en-IN" dirty="0"/>
          </a:p>
        </p:txBody>
      </p:sp>
      <p:sp>
        <p:nvSpPr>
          <p:cNvPr id="3" name="Subtitle 2">
            <a:extLst>
              <a:ext uri="{FF2B5EF4-FFF2-40B4-BE49-F238E27FC236}">
                <a16:creationId xmlns:a16="http://schemas.microsoft.com/office/drawing/2014/main" id="{087DE9B1-2AD1-EC6C-1330-9EFC96793F41}"/>
              </a:ext>
            </a:extLst>
          </p:cNvPr>
          <p:cNvSpPr>
            <a:spLocks noGrp="1"/>
          </p:cNvSpPr>
          <p:nvPr>
            <p:ph type="subTitle" idx="1"/>
          </p:nvPr>
        </p:nvSpPr>
        <p:spPr/>
        <p:txBody>
          <a:bodyPr/>
          <a:lstStyle/>
          <a:p>
            <a:r>
              <a:rPr lang="en-US" dirty="0"/>
              <a:t>Figures and Summary</a:t>
            </a:r>
          </a:p>
          <a:p>
            <a:r>
              <a:rPr lang="en-US" dirty="0"/>
              <a:t>- Arooja Tyagi and Ankur Monga</a:t>
            </a:r>
            <a:endParaRPr lang="en-IN" dirty="0"/>
          </a:p>
        </p:txBody>
      </p:sp>
    </p:spTree>
    <p:extLst>
      <p:ext uri="{BB962C8B-B14F-4D97-AF65-F5344CB8AC3E}">
        <p14:creationId xmlns:p14="http://schemas.microsoft.com/office/powerpoint/2010/main" val="2803051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546D3-D3BD-F317-35ED-8C801AF7A52A}"/>
              </a:ext>
            </a:extLst>
          </p:cNvPr>
          <p:cNvSpPr>
            <a:spLocks noGrp="1"/>
          </p:cNvSpPr>
          <p:nvPr>
            <p:ph type="title"/>
          </p:nvPr>
        </p:nvSpPr>
        <p:spPr/>
        <p:txBody>
          <a:bodyPr/>
          <a:lstStyle/>
          <a:p>
            <a:r>
              <a:rPr lang="en-US" dirty="0"/>
              <a:t>Contents</a:t>
            </a:r>
            <a:endParaRPr lang="en-IN" dirty="0"/>
          </a:p>
        </p:txBody>
      </p:sp>
      <p:sp>
        <p:nvSpPr>
          <p:cNvPr id="3" name="Content Placeholder 2">
            <a:extLst>
              <a:ext uri="{FF2B5EF4-FFF2-40B4-BE49-F238E27FC236}">
                <a16:creationId xmlns:a16="http://schemas.microsoft.com/office/drawing/2014/main" id="{CF8B7FF2-E49F-F1AA-9445-071931FEB115}"/>
              </a:ext>
            </a:extLst>
          </p:cNvPr>
          <p:cNvSpPr>
            <a:spLocks noGrp="1"/>
          </p:cNvSpPr>
          <p:nvPr>
            <p:ph idx="1"/>
          </p:nvPr>
        </p:nvSpPr>
        <p:spPr/>
        <p:txBody>
          <a:bodyPr>
            <a:normAutofit fontScale="55000" lnSpcReduction="20000"/>
          </a:bodyPr>
          <a:lstStyle/>
          <a:p>
            <a:r>
              <a:rPr lang="en-US" dirty="0"/>
              <a:t>Table 1: Datasets</a:t>
            </a:r>
          </a:p>
          <a:p>
            <a:r>
              <a:rPr lang="en-US" dirty="0"/>
              <a:t>List of Common genes</a:t>
            </a:r>
          </a:p>
          <a:p>
            <a:pPr lvl="1"/>
            <a:r>
              <a:rPr lang="en-US" dirty="0"/>
              <a:t>In all datasets</a:t>
            </a:r>
          </a:p>
          <a:p>
            <a:pPr lvl="1"/>
            <a:r>
              <a:rPr lang="en-US" dirty="0"/>
              <a:t>Occurring in 6 out of 7 datasets</a:t>
            </a:r>
          </a:p>
          <a:p>
            <a:pPr lvl="1"/>
            <a:r>
              <a:rPr lang="en-US" dirty="0"/>
              <a:t>iPSCs vs ESCs</a:t>
            </a:r>
          </a:p>
          <a:p>
            <a:pPr lvl="1"/>
            <a:r>
              <a:rPr lang="en-US" dirty="0"/>
              <a:t>iPSCs derivatives</a:t>
            </a:r>
          </a:p>
          <a:p>
            <a:pPr fontAlgn="base"/>
            <a:r>
              <a:rPr lang="en-IN" dirty="0"/>
              <a:t>Intersection matrix of all 7 datasets</a:t>
            </a:r>
          </a:p>
          <a:p>
            <a:pPr fontAlgn="base"/>
            <a:r>
              <a:rPr lang="en-IN" dirty="0" err="1"/>
              <a:t>Reactome</a:t>
            </a:r>
            <a:r>
              <a:rPr lang="en-IN" dirty="0"/>
              <a:t> visualisation of pathways common in </a:t>
            </a:r>
            <a:r>
              <a:rPr lang="en-IN" dirty="0" err="1"/>
              <a:t>atleast</a:t>
            </a:r>
            <a:r>
              <a:rPr lang="en-IN" dirty="0"/>
              <a:t> 6/7 datasets at a time</a:t>
            </a:r>
          </a:p>
          <a:p>
            <a:pPr fontAlgn="base"/>
            <a:r>
              <a:rPr lang="en-IN" dirty="0"/>
              <a:t>STRING PPI with k-means clustering</a:t>
            </a:r>
          </a:p>
          <a:p>
            <a:pPr fontAlgn="base"/>
            <a:r>
              <a:rPr lang="en-IN" dirty="0" err="1"/>
              <a:t>Reactome</a:t>
            </a:r>
            <a:r>
              <a:rPr lang="en-IN" dirty="0"/>
              <a:t> visualisation of genes from iPSCs vs ESC comparative</a:t>
            </a:r>
          </a:p>
          <a:p>
            <a:pPr fontAlgn="base"/>
            <a:r>
              <a:rPr lang="en-IN" dirty="0" err="1"/>
              <a:t>Reactome</a:t>
            </a:r>
            <a:r>
              <a:rPr lang="en-IN" dirty="0"/>
              <a:t> visualisation of genes from iPSCs derivatives comparative</a:t>
            </a:r>
          </a:p>
          <a:p>
            <a:pPr fontAlgn="base"/>
            <a:r>
              <a:rPr lang="en-IN" dirty="0" err="1"/>
              <a:t>Enrichr</a:t>
            </a:r>
            <a:r>
              <a:rPr lang="en-IN" dirty="0"/>
              <a:t> cluster diagram</a:t>
            </a:r>
          </a:p>
          <a:p>
            <a:pPr fontAlgn="base"/>
            <a:r>
              <a:rPr lang="en-IN" dirty="0"/>
              <a:t>Prediction of gene interaction from </a:t>
            </a:r>
            <a:r>
              <a:rPr lang="en-IN" dirty="0" err="1"/>
              <a:t>geneMANIA</a:t>
            </a:r>
            <a:endParaRPr lang="en-IN" dirty="0"/>
          </a:p>
          <a:p>
            <a:pPr fontAlgn="base"/>
            <a:r>
              <a:rPr lang="en-IN" dirty="0"/>
              <a:t>Venn diagram for DEGs in iPSCs vs ESC</a:t>
            </a:r>
          </a:p>
          <a:p>
            <a:pPr fontAlgn="base"/>
            <a:r>
              <a:rPr lang="en-IN" dirty="0"/>
              <a:t>Venn diagram for iPSC derivative</a:t>
            </a:r>
          </a:p>
          <a:p>
            <a:pPr marL="457200" lvl="1" indent="0">
              <a:buNone/>
            </a:pPr>
            <a:endParaRPr lang="en-US" dirty="0"/>
          </a:p>
        </p:txBody>
      </p:sp>
    </p:spTree>
    <p:extLst>
      <p:ext uri="{BB962C8B-B14F-4D97-AF65-F5344CB8AC3E}">
        <p14:creationId xmlns:p14="http://schemas.microsoft.com/office/powerpoint/2010/main" val="2059887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2F638F81-D0B9-5A38-29F0-2549D085D63F}"/>
              </a:ext>
            </a:extLst>
          </p:cNvPr>
          <p:cNvSpPr>
            <a:spLocks noChangeArrowheads="1"/>
          </p:cNvSpPr>
          <p:nvPr/>
        </p:nvSpPr>
        <p:spPr bwMode="auto">
          <a:xfrm>
            <a:off x="630936" y="2807208"/>
            <a:ext cx="3429000" cy="34107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R="0" lvl="0" fontAlgn="base">
              <a:lnSpc>
                <a:spcPct val="90000"/>
              </a:lnSpc>
              <a:spcBef>
                <a:spcPct val="0"/>
              </a:spcBef>
              <a:spcAft>
                <a:spcPts val="600"/>
              </a:spcAft>
              <a:buClrTx/>
              <a:buSzTx/>
              <a:tabLst/>
            </a:pPr>
            <a:r>
              <a:rPr kumimoji="0" lang="en-US" altLang="en-US" sz="1700" b="1" i="0" u="none" strike="noStrike" cap="none" normalizeH="0" baseline="0" dirty="0">
                <a:ln>
                  <a:noFill/>
                </a:ln>
                <a:effectLst/>
              </a:rPr>
              <a:t>Table 1: Datasets used for the Study</a:t>
            </a:r>
            <a:endParaRPr kumimoji="0" lang="en-US" altLang="en-US" sz="1700" b="0" i="0" u="none" strike="noStrike" cap="none" normalizeH="0" baseline="0" dirty="0">
              <a:ln>
                <a:noFill/>
              </a:ln>
              <a:effectLst/>
            </a:endParaRPr>
          </a:p>
          <a:p>
            <a:pPr marR="0" lvl="0" fontAlgn="base">
              <a:lnSpc>
                <a:spcPct val="90000"/>
              </a:lnSpc>
              <a:spcBef>
                <a:spcPct val="0"/>
              </a:spcBef>
              <a:spcAft>
                <a:spcPts val="600"/>
              </a:spcAft>
              <a:buClrTx/>
              <a:buSzTx/>
              <a:tabLst/>
            </a:pPr>
            <a:endParaRPr kumimoji="0" lang="en-US" altLang="en-US" sz="1700" b="0" i="0" u="none" strike="noStrike" cap="none" normalizeH="0" baseline="0" dirty="0">
              <a:ln>
                <a:noFill/>
              </a:ln>
              <a:effectLst/>
            </a:endParaRPr>
          </a:p>
          <a:p>
            <a:pPr marR="0" lvl="0" fontAlgn="base">
              <a:lnSpc>
                <a:spcPct val="90000"/>
              </a:lnSpc>
              <a:spcBef>
                <a:spcPct val="0"/>
              </a:spcBef>
              <a:spcAft>
                <a:spcPts val="600"/>
              </a:spcAft>
              <a:buClrTx/>
              <a:buSzTx/>
              <a:tabLst/>
            </a:pPr>
            <a:r>
              <a:rPr kumimoji="0" lang="en-US" altLang="en-US" sz="1700" b="0" i="0" u="none" strike="noStrike" cap="none" normalizeH="0" baseline="0" dirty="0">
                <a:ln>
                  <a:noFill/>
                </a:ln>
                <a:effectLst/>
              </a:rPr>
              <a:t>Table 1: Datasets chosen with their details given. Datasets were chosen for apt differential expression analysis and comparison based on epigenetic transition of the cell type and for their safety profiles for therapeutic applications.</a:t>
            </a:r>
            <a:br>
              <a:rPr kumimoji="0" lang="en-US" altLang="en-US" sz="1700" b="0" i="0" u="none" strike="noStrike" cap="none" normalizeH="0" baseline="0" dirty="0">
                <a:ln>
                  <a:noFill/>
                </a:ln>
                <a:effectLst/>
              </a:rPr>
            </a:br>
            <a:endParaRPr kumimoji="0" lang="en-US" altLang="en-US" sz="1700" b="0" i="0" u="none" strike="noStrike" cap="none" normalizeH="0" baseline="0" dirty="0">
              <a:ln>
                <a:noFill/>
              </a:ln>
              <a:effectLst/>
            </a:endParaRPr>
          </a:p>
        </p:txBody>
      </p:sp>
      <p:graphicFrame>
        <p:nvGraphicFramePr>
          <p:cNvPr id="4" name="Table 3">
            <a:extLst>
              <a:ext uri="{FF2B5EF4-FFF2-40B4-BE49-F238E27FC236}">
                <a16:creationId xmlns:a16="http://schemas.microsoft.com/office/drawing/2014/main" id="{FD8AA339-7302-C7CB-1DAA-29A3EB3A8D6B}"/>
              </a:ext>
            </a:extLst>
          </p:cNvPr>
          <p:cNvGraphicFramePr>
            <a:graphicFrameLocks noGrp="1"/>
          </p:cNvGraphicFramePr>
          <p:nvPr>
            <p:extLst>
              <p:ext uri="{D42A27DB-BD31-4B8C-83A1-F6EECF244321}">
                <p14:modId xmlns:p14="http://schemas.microsoft.com/office/powerpoint/2010/main" val="886227759"/>
              </p:ext>
            </p:extLst>
          </p:nvPr>
        </p:nvGraphicFramePr>
        <p:xfrm>
          <a:off x="4654296" y="1241382"/>
          <a:ext cx="6903722" cy="4375240"/>
        </p:xfrm>
        <a:graphic>
          <a:graphicData uri="http://schemas.openxmlformats.org/drawingml/2006/table">
            <a:tbl>
              <a:tblPr/>
              <a:tblGrid>
                <a:gridCol w="828697">
                  <a:extLst>
                    <a:ext uri="{9D8B030D-6E8A-4147-A177-3AD203B41FA5}">
                      <a16:colId xmlns:a16="http://schemas.microsoft.com/office/drawing/2014/main" val="1178885663"/>
                    </a:ext>
                  </a:extLst>
                </a:gridCol>
                <a:gridCol w="751456">
                  <a:extLst>
                    <a:ext uri="{9D8B030D-6E8A-4147-A177-3AD203B41FA5}">
                      <a16:colId xmlns:a16="http://schemas.microsoft.com/office/drawing/2014/main" val="3184215828"/>
                    </a:ext>
                  </a:extLst>
                </a:gridCol>
                <a:gridCol w="983183">
                  <a:extLst>
                    <a:ext uri="{9D8B030D-6E8A-4147-A177-3AD203B41FA5}">
                      <a16:colId xmlns:a16="http://schemas.microsoft.com/office/drawing/2014/main" val="1388731605"/>
                    </a:ext>
                  </a:extLst>
                </a:gridCol>
                <a:gridCol w="2843305">
                  <a:extLst>
                    <a:ext uri="{9D8B030D-6E8A-4147-A177-3AD203B41FA5}">
                      <a16:colId xmlns:a16="http://schemas.microsoft.com/office/drawing/2014/main" val="106382635"/>
                    </a:ext>
                  </a:extLst>
                </a:gridCol>
                <a:gridCol w="1497081">
                  <a:extLst>
                    <a:ext uri="{9D8B030D-6E8A-4147-A177-3AD203B41FA5}">
                      <a16:colId xmlns:a16="http://schemas.microsoft.com/office/drawing/2014/main" val="131086402"/>
                    </a:ext>
                  </a:extLst>
                </a:gridCol>
              </a:tblGrid>
              <a:tr h="297207">
                <a:tc>
                  <a:txBody>
                    <a:bodyPr/>
                    <a:lstStyle/>
                    <a:p>
                      <a:pPr algn="ctr" rtl="0" fontAlgn="t">
                        <a:buNone/>
                      </a:pPr>
                      <a:r>
                        <a:rPr lang="en-IN" sz="1000" b="1" i="0" u="none" strike="noStrike">
                          <a:solidFill>
                            <a:srgbClr val="000000"/>
                          </a:solidFill>
                          <a:effectLst/>
                          <a:latin typeface="Times New Roman" panose="02020603050405020304" pitchFamily="18" charset="0"/>
                        </a:rPr>
                        <a:t>Dataset</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1" i="0" u="none" strike="noStrike">
                          <a:solidFill>
                            <a:srgbClr val="000000"/>
                          </a:solidFill>
                          <a:effectLst/>
                          <a:latin typeface="Times New Roman" panose="02020603050405020304" pitchFamily="18" charset="0"/>
                        </a:rPr>
                        <a:t>Organism</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1" i="0" u="none" strike="noStrike">
                          <a:solidFill>
                            <a:srgbClr val="000000"/>
                          </a:solidFill>
                          <a:effectLst/>
                          <a:latin typeface="Times New Roman" panose="02020603050405020304" pitchFamily="18" charset="0"/>
                        </a:rPr>
                        <a:t>Platform</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1" i="0" u="none" strike="noStrike">
                          <a:solidFill>
                            <a:srgbClr val="000000"/>
                          </a:solidFill>
                          <a:effectLst/>
                          <a:latin typeface="Times New Roman" panose="02020603050405020304" pitchFamily="18" charset="0"/>
                        </a:rPr>
                        <a:t>Cell types</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1" i="0" u="none" strike="noStrike">
                          <a:solidFill>
                            <a:srgbClr val="000000"/>
                          </a:solidFill>
                          <a:effectLst/>
                          <a:latin typeface="Times New Roman" panose="02020603050405020304" pitchFamily="18" charset="0"/>
                        </a:rPr>
                        <a:t>Comparisons</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2473247"/>
                  </a:ext>
                </a:extLst>
              </a:tr>
              <a:tr h="448539">
                <a:tc>
                  <a:txBody>
                    <a:bodyPr/>
                    <a:lstStyle/>
                    <a:p>
                      <a:pPr algn="ctr" rtl="0" fontAlgn="t">
                        <a:buNone/>
                      </a:pPr>
                      <a:r>
                        <a:rPr lang="en-IN" sz="1000" b="0" i="0" u="none" strike="noStrike">
                          <a:solidFill>
                            <a:srgbClr val="000000"/>
                          </a:solidFill>
                          <a:effectLst/>
                          <a:latin typeface="Times New Roman" panose="02020603050405020304" pitchFamily="18" charset="0"/>
                        </a:rPr>
                        <a:t>GSE38265</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Homo sapiens</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Illumina HiSeq 2000</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000" b="0" i="0" u="none" strike="noStrike">
                          <a:solidFill>
                            <a:srgbClr val="000000"/>
                          </a:solidFill>
                          <a:effectLst/>
                          <a:latin typeface="Times New Roman" panose="02020603050405020304" pitchFamily="18" charset="0"/>
                        </a:rPr>
                        <a:t>Parent BJ cells, OSKM generated iPSCs, hESC</a:t>
                      </a:r>
                      <a:endParaRPr lang="en-US"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ESC Vs iPSCs</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0496101"/>
                  </a:ext>
                </a:extLst>
              </a:tr>
              <a:tr h="842003">
                <a:tc>
                  <a:txBody>
                    <a:bodyPr/>
                    <a:lstStyle/>
                    <a:p>
                      <a:pPr algn="ctr" rtl="0" fontAlgn="t">
                        <a:buNone/>
                      </a:pPr>
                      <a:r>
                        <a:rPr lang="en-IN" sz="1000" b="0" i="0" u="none" strike="noStrike">
                          <a:solidFill>
                            <a:srgbClr val="000000"/>
                          </a:solidFill>
                          <a:effectLst/>
                          <a:latin typeface="Times New Roman" panose="02020603050405020304" pitchFamily="18" charset="0"/>
                        </a:rPr>
                        <a:t>GSE69626</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Homo sapiens</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Illumina HiSeq 2000</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000" b="0" i="0" u="none" strike="noStrike">
                          <a:solidFill>
                            <a:srgbClr val="000000"/>
                          </a:solidFill>
                          <a:effectLst/>
                          <a:latin typeface="Times New Roman" panose="02020603050405020304" pitchFamily="18" charset="0"/>
                        </a:rPr>
                        <a:t>hESCs control, hiPSCs control and generated hiPSCs</a:t>
                      </a:r>
                      <a:endParaRPr lang="en-US"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ESCs vs generated iPSCs</a:t>
                      </a:r>
                      <a:endParaRPr lang="en-IN" sz="1800">
                        <a:effectLst/>
                      </a:endParaRPr>
                    </a:p>
                    <a:p>
                      <a:pPr fontAlgn="t">
                        <a:buNone/>
                      </a:pPr>
                      <a:br>
                        <a:rPr lang="en-IN" sz="1800">
                          <a:effectLst/>
                        </a:rPr>
                      </a:b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50134017"/>
                  </a:ext>
                </a:extLst>
              </a:tr>
              <a:tr h="448539">
                <a:tc>
                  <a:txBody>
                    <a:bodyPr/>
                    <a:lstStyle/>
                    <a:p>
                      <a:pPr algn="ctr" rtl="0" fontAlgn="t">
                        <a:buNone/>
                      </a:pPr>
                      <a:r>
                        <a:rPr lang="en-IN" sz="1000" b="0" i="0" u="none" strike="noStrike">
                          <a:solidFill>
                            <a:srgbClr val="000000"/>
                          </a:solidFill>
                          <a:effectLst/>
                          <a:latin typeface="Times New Roman" panose="02020603050405020304" pitchFamily="18" charset="0"/>
                        </a:rPr>
                        <a:t>GSE239446</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Homo sapiens</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Illumina HiSeq 2500</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000" b="0" i="0" u="none" strike="noStrike">
                          <a:solidFill>
                            <a:srgbClr val="000000"/>
                          </a:solidFill>
                          <a:effectLst/>
                          <a:latin typeface="Times New Roman" panose="02020603050405020304" pitchFamily="18" charset="0"/>
                        </a:rPr>
                        <a:t>hiPSCs derived NSCs, hiPSCs, hfNSCs and all their SREBF1-KO clones</a:t>
                      </a:r>
                      <a:endParaRPr lang="en-US"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hfNSCs vs hiPSCs</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95310701"/>
                  </a:ext>
                </a:extLst>
              </a:tr>
              <a:tr h="993335">
                <a:tc>
                  <a:txBody>
                    <a:bodyPr/>
                    <a:lstStyle/>
                    <a:p>
                      <a:pPr algn="ctr" rtl="0" fontAlgn="t">
                        <a:buNone/>
                      </a:pPr>
                      <a:r>
                        <a:rPr lang="en-IN" sz="1000" b="0" i="0" u="none" strike="noStrike">
                          <a:solidFill>
                            <a:srgbClr val="000000"/>
                          </a:solidFill>
                          <a:effectLst/>
                          <a:latin typeface="Times New Roman" panose="02020603050405020304" pitchFamily="18" charset="0"/>
                        </a:rPr>
                        <a:t>GSE164425</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Homo sapiens</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Illumina HiSeq 3000 </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HSC derived  NK cells, CD8+ T cells, natural NK cells</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HSC derived NK cells vs NK cells</a:t>
                      </a:r>
                      <a:endParaRPr lang="en-IN" sz="1800">
                        <a:effectLst/>
                      </a:endParaRPr>
                    </a:p>
                    <a:p>
                      <a:pPr fontAlgn="t">
                        <a:buNone/>
                      </a:pPr>
                      <a:br>
                        <a:rPr lang="en-IN" sz="1800">
                          <a:effectLst/>
                        </a:rPr>
                      </a:b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5708345"/>
                  </a:ext>
                </a:extLst>
              </a:tr>
              <a:tr h="448539">
                <a:tc>
                  <a:txBody>
                    <a:bodyPr/>
                    <a:lstStyle/>
                    <a:p>
                      <a:pPr algn="ctr" rtl="0" fontAlgn="t">
                        <a:buNone/>
                      </a:pPr>
                      <a:r>
                        <a:rPr lang="en-IN" sz="1000" b="0" i="0" u="none" strike="noStrike">
                          <a:solidFill>
                            <a:srgbClr val="000000"/>
                          </a:solidFill>
                          <a:effectLst/>
                          <a:latin typeface="Times New Roman" panose="02020603050405020304" pitchFamily="18" charset="0"/>
                        </a:rPr>
                        <a:t>GSE113253</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Homo sapiens</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Illumina HiSeq 1500 </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MSCs, osteoblasts, adipocytes</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000" b="0" i="0" u="none" strike="noStrike">
                          <a:solidFill>
                            <a:srgbClr val="000000"/>
                          </a:solidFill>
                          <a:effectLst/>
                          <a:latin typeface="Times New Roman" panose="02020603050405020304" pitchFamily="18" charset="0"/>
                        </a:rPr>
                        <a:t>MSC vs osteoblasts</a:t>
                      </a:r>
                      <a:endParaRPr lang="en-US" sz="1800">
                        <a:effectLst/>
                      </a:endParaRPr>
                    </a:p>
                    <a:p>
                      <a:pPr algn="ctr" rtl="0" fontAlgn="t">
                        <a:buNone/>
                      </a:pPr>
                      <a:r>
                        <a:rPr lang="en-US" sz="1000" b="0" i="0" u="none" strike="noStrike">
                          <a:solidFill>
                            <a:srgbClr val="000000"/>
                          </a:solidFill>
                          <a:effectLst/>
                          <a:latin typeface="Times New Roman" panose="02020603050405020304" pitchFamily="18" charset="0"/>
                        </a:rPr>
                        <a:t>MSC vs adipocytes</a:t>
                      </a:r>
                      <a:endParaRPr lang="en-US"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0229829"/>
                  </a:ext>
                </a:extLst>
              </a:tr>
              <a:tr h="448539">
                <a:tc>
                  <a:txBody>
                    <a:bodyPr/>
                    <a:lstStyle/>
                    <a:p>
                      <a:pPr algn="ctr" rtl="0" fontAlgn="t">
                        <a:buNone/>
                      </a:pPr>
                      <a:r>
                        <a:rPr lang="en-IN" sz="1000" b="0" i="0" u="none" strike="noStrike">
                          <a:solidFill>
                            <a:srgbClr val="000000"/>
                          </a:solidFill>
                          <a:effectLst/>
                          <a:latin typeface="Times New Roman" panose="02020603050405020304" pitchFamily="18" charset="0"/>
                        </a:rPr>
                        <a:t>GSE252276</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Homo sapiens</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Illumina HiSeq 1500</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000" b="0" i="0" u="none" strike="noStrike">
                          <a:solidFill>
                            <a:srgbClr val="000000"/>
                          </a:solidFill>
                          <a:effectLst/>
                          <a:latin typeface="Times New Roman" panose="02020603050405020304" pitchFamily="18" charset="0"/>
                        </a:rPr>
                        <a:t>RPE cell controls, AIPL1co, AIPL1wt</a:t>
                      </a:r>
                      <a:endParaRPr lang="en-US"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AIPLco vs control,</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661811"/>
                  </a:ext>
                </a:extLst>
              </a:tr>
              <a:tr h="448539">
                <a:tc>
                  <a:txBody>
                    <a:bodyPr/>
                    <a:lstStyle/>
                    <a:p>
                      <a:pPr algn="ctr" rtl="0" fontAlgn="t">
                        <a:buNone/>
                      </a:pPr>
                      <a:r>
                        <a:rPr lang="en-IN" sz="1000" b="0" i="0" u="none" strike="noStrike">
                          <a:solidFill>
                            <a:srgbClr val="000000"/>
                          </a:solidFill>
                          <a:effectLst/>
                          <a:latin typeface="Times New Roman" panose="02020603050405020304" pitchFamily="18" charset="0"/>
                        </a:rPr>
                        <a:t>GSE139273</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Homo sapiens</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Illumina HiSeq 3000 </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iPSCs, iSNs, hDRGs</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IN" sz="1000" b="0" i="0" u="none" strike="noStrike">
                          <a:solidFill>
                            <a:srgbClr val="000000"/>
                          </a:solidFill>
                          <a:effectLst/>
                          <a:latin typeface="Times New Roman" panose="02020603050405020304" pitchFamily="18" charset="0"/>
                        </a:rPr>
                        <a:t>iPSCs vs iSNs</a:t>
                      </a:r>
                      <a:endParaRPr lang="en-IN" sz="1800">
                        <a:effectLst/>
                      </a:endParaRPr>
                    </a:p>
                    <a:p>
                      <a:pPr algn="ctr" rtl="0" fontAlgn="t">
                        <a:buNone/>
                      </a:pPr>
                      <a:r>
                        <a:rPr lang="en-IN" sz="1000" b="0" i="0" u="none" strike="noStrike">
                          <a:solidFill>
                            <a:srgbClr val="000000"/>
                          </a:solidFill>
                          <a:effectLst/>
                          <a:latin typeface="Times New Roman" panose="02020603050405020304" pitchFamily="18" charset="0"/>
                        </a:rPr>
                        <a:t> iSNs vs hDRGs</a:t>
                      </a:r>
                      <a:endParaRPr lang="en-IN" sz="1800">
                        <a:effectLst/>
                      </a:endParaRPr>
                    </a:p>
                  </a:txBody>
                  <a:tcPr marL="54777" marR="54777" marT="54777" marB="5477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7189656"/>
                  </a:ext>
                </a:extLst>
              </a:tr>
            </a:tbl>
          </a:graphicData>
        </a:graphic>
      </p:graphicFrame>
    </p:spTree>
    <p:extLst>
      <p:ext uri="{BB962C8B-B14F-4D97-AF65-F5344CB8AC3E}">
        <p14:creationId xmlns:p14="http://schemas.microsoft.com/office/powerpoint/2010/main" val="3851135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94292F3-3C42-B854-2235-C7E1A8B8413F}"/>
              </a:ext>
            </a:extLst>
          </p:cNvPr>
          <p:cNvSpPr/>
          <p:nvPr/>
        </p:nvSpPr>
        <p:spPr>
          <a:xfrm>
            <a:off x="7905135" y="2775155"/>
            <a:ext cx="3392129" cy="130769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643A1A29-7C3A-7762-AF48-B4177319BCF5}"/>
              </a:ext>
            </a:extLst>
          </p:cNvPr>
          <p:cNvSpPr txBox="1"/>
          <p:nvPr/>
        </p:nvSpPr>
        <p:spPr>
          <a:xfrm>
            <a:off x="894736" y="835741"/>
            <a:ext cx="2890684" cy="5909310"/>
          </a:xfrm>
          <a:prstGeom prst="rect">
            <a:avLst/>
          </a:prstGeom>
          <a:noFill/>
        </p:spPr>
        <p:txBody>
          <a:bodyPr wrap="square">
            <a:spAutoFit/>
          </a:bodyPr>
          <a:lstStyle/>
          <a:p>
            <a:pPr rtl="0">
              <a:buNone/>
            </a:pPr>
            <a:r>
              <a:rPr lang="en-IN" sz="1800" b="0" i="0" u="none" strike="noStrike" dirty="0">
                <a:solidFill>
                  <a:srgbClr val="000000"/>
                </a:solidFill>
                <a:effectLst/>
                <a:latin typeface="Times New Roman" panose="02020603050405020304" pitchFamily="18" charset="0"/>
              </a:rPr>
              <a:t>ARSB</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BAZ2B</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BEX2</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CAMK2N1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CERS6</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COPZ2</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CRISPLD2</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CSF1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DDR2</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DTNBP1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EMP1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ENC1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EPG5</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EPHA4</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FGD4</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FILIP1L</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FOXP1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FRMD4B</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GBP3</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GCNT1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GEM</a:t>
            </a:r>
            <a:endParaRPr lang="en-IN" b="0" dirty="0">
              <a:effectLst/>
            </a:endParaRPr>
          </a:p>
        </p:txBody>
      </p:sp>
      <p:sp>
        <p:nvSpPr>
          <p:cNvPr id="7" name="TextBox 6">
            <a:extLst>
              <a:ext uri="{FF2B5EF4-FFF2-40B4-BE49-F238E27FC236}">
                <a16:creationId xmlns:a16="http://schemas.microsoft.com/office/drawing/2014/main" id="{0628FC79-1579-2DA6-EB2E-57BD05D8B819}"/>
              </a:ext>
            </a:extLst>
          </p:cNvPr>
          <p:cNvSpPr txBox="1"/>
          <p:nvPr/>
        </p:nvSpPr>
        <p:spPr>
          <a:xfrm>
            <a:off x="3288891" y="835741"/>
            <a:ext cx="6096000" cy="6186309"/>
          </a:xfrm>
          <a:prstGeom prst="rect">
            <a:avLst/>
          </a:prstGeom>
          <a:noFill/>
        </p:spPr>
        <p:txBody>
          <a:bodyPr wrap="square">
            <a:spAutoFit/>
          </a:bodyPr>
          <a:lstStyle/>
          <a:p>
            <a:pPr rtl="0">
              <a:buNone/>
            </a:pPr>
            <a:r>
              <a:rPr lang="en-IN" sz="1800" b="0" i="0" u="none" strike="noStrike" dirty="0">
                <a:solidFill>
                  <a:srgbClr val="000000"/>
                </a:solidFill>
                <a:effectLst/>
                <a:latin typeface="Times New Roman" panose="02020603050405020304" pitchFamily="18" charset="0"/>
              </a:rPr>
              <a:t>GSAP</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IFNGR1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IRS2</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ITGB3BP</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LPP</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METAP2</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NEAT1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NEK7</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NFIX</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NIPAL2</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NR3C1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PFKFB3</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PKIA</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PLEKHA7</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PRICKLE2</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RAPH1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RPLP2</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RRAGA</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SFT2D2</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SHPRH</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SMCO4</a:t>
            </a:r>
            <a:endParaRPr lang="en-IN" b="0" dirty="0">
              <a:effectLst/>
            </a:endParaRPr>
          </a:p>
          <a:p>
            <a:pPr rtl="0">
              <a:buNone/>
            </a:pPr>
            <a:endParaRPr lang="en-IN" dirty="0"/>
          </a:p>
        </p:txBody>
      </p:sp>
      <p:sp>
        <p:nvSpPr>
          <p:cNvPr id="9" name="TextBox 8">
            <a:extLst>
              <a:ext uri="{FF2B5EF4-FFF2-40B4-BE49-F238E27FC236}">
                <a16:creationId xmlns:a16="http://schemas.microsoft.com/office/drawing/2014/main" id="{E2365F97-A47A-CBD2-C727-0654E30E9EBB}"/>
              </a:ext>
            </a:extLst>
          </p:cNvPr>
          <p:cNvSpPr txBox="1"/>
          <p:nvPr/>
        </p:nvSpPr>
        <p:spPr>
          <a:xfrm>
            <a:off x="5599471" y="835741"/>
            <a:ext cx="6096000" cy="5355312"/>
          </a:xfrm>
          <a:prstGeom prst="rect">
            <a:avLst/>
          </a:prstGeom>
          <a:noFill/>
        </p:spPr>
        <p:txBody>
          <a:bodyPr wrap="square">
            <a:spAutoFit/>
          </a:bodyPr>
          <a:lstStyle/>
          <a:p>
            <a:pPr rtl="0">
              <a:buNone/>
            </a:pPr>
            <a:r>
              <a:rPr lang="en-IN" sz="1800" b="0" i="0" u="none" strike="noStrike" dirty="0">
                <a:solidFill>
                  <a:srgbClr val="000000"/>
                </a:solidFill>
                <a:effectLst/>
                <a:latin typeface="Times New Roman" panose="02020603050405020304" pitchFamily="18" charset="0"/>
              </a:rPr>
              <a:t>SNN</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SNX10</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SNX30</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SORT1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SOX13</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SV2A</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SYTL3</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TBC1D2B</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THBS1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TNRC6B</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TRNT1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USP53</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UTRN</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XPO1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ZBTB37</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ZEB1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ZNF268</a:t>
            </a:r>
            <a:endParaRPr lang="en-IN" b="0" dirty="0">
              <a:effectLst/>
            </a:endParaRPr>
          </a:p>
          <a:p>
            <a:pPr>
              <a:buNone/>
            </a:pPr>
            <a:br>
              <a:rPr lang="en-IN" b="0" dirty="0">
                <a:effectLst/>
              </a:rPr>
            </a:br>
            <a:endParaRPr lang="en-IN" dirty="0"/>
          </a:p>
        </p:txBody>
      </p:sp>
      <p:sp>
        <p:nvSpPr>
          <p:cNvPr id="10" name="TextBox 9">
            <a:extLst>
              <a:ext uri="{FF2B5EF4-FFF2-40B4-BE49-F238E27FC236}">
                <a16:creationId xmlns:a16="http://schemas.microsoft.com/office/drawing/2014/main" id="{4AC81496-6FB7-72D4-0606-99F225236ABE}"/>
              </a:ext>
            </a:extLst>
          </p:cNvPr>
          <p:cNvSpPr txBox="1"/>
          <p:nvPr/>
        </p:nvSpPr>
        <p:spPr>
          <a:xfrm>
            <a:off x="491613" y="285586"/>
            <a:ext cx="6096000" cy="923330"/>
          </a:xfrm>
          <a:prstGeom prst="rect">
            <a:avLst/>
          </a:prstGeom>
          <a:noFill/>
        </p:spPr>
        <p:txBody>
          <a:bodyPr wrap="square">
            <a:spAutoFit/>
          </a:bodyPr>
          <a:lstStyle/>
          <a:p>
            <a:pPr rtl="0">
              <a:buNone/>
            </a:pPr>
            <a:r>
              <a:rPr lang="en-US" sz="1800" b="0" i="0" u="none" strike="noStrike" dirty="0">
                <a:solidFill>
                  <a:srgbClr val="000000"/>
                </a:solidFill>
                <a:effectLst/>
                <a:latin typeface="Times New Roman" panose="02020603050405020304" pitchFamily="18" charset="0"/>
              </a:rPr>
              <a:t>Genes occurring in 6/7 datasets</a:t>
            </a:r>
            <a:endParaRPr lang="en-US" b="0" dirty="0">
              <a:effectLst/>
            </a:endParaRPr>
          </a:p>
          <a:p>
            <a:pPr>
              <a:buNone/>
            </a:pPr>
            <a:br>
              <a:rPr lang="en-US" dirty="0"/>
            </a:br>
            <a:endParaRPr lang="en-IN" dirty="0"/>
          </a:p>
        </p:txBody>
      </p:sp>
      <p:sp>
        <p:nvSpPr>
          <p:cNvPr id="11" name="TextBox 10">
            <a:extLst>
              <a:ext uri="{FF2B5EF4-FFF2-40B4-BE49-F238E27FC236}">
                <a16:creationId xmlns:a16="http://schemas.microsoft.com/office/drawing/2014/main" id="{BC93902A-DC21-FEEB-E30A-6202606CE538}"/>
              </a:ext>
            </a:extLst>
          </p:cNvPr>
          <p:cNvSpPr txBox="1"/>
          <p:nvPr/>
        </p:nvSpPr>
        <p:spPr>
          <a:xfrm>
            <a:off x="8032956" y="2924284"/>
            <a:ext cx="3264308" cy="369332"/>
          </a:xfrm>
          <a:prstGeom prst="rect">
            <a:avLst/>
          </a:prstGeom>
          <a:noFill/>
        </p:spPr>
        <p:txBody>
          <a:bodyPr wrap="square">
            <a:spAutoFit/>
          </a:bodyPr>
          <a:lstStyle/>
          <a:p>
            <a:pPr rtl="0">
              <a:buNone/>
            </a:pPr>
            <a:r>
              <a:rPr lang="en-US" sz="1800" b="0" i="0" u="none" strike="noStrike" dirty="0">
                <a:solidFill>
                  <a:srgbClr val="000000"/>
                </a:solidFill>
                <a:effectLst/>
                <a:latin typeface="Times New Roman" panose="02020603050405020304" pitchFamily="18" charset="0"/>
              </a:rPr>
              <a:t>Genes occurring in all datasets</a:t>
            </a:r>
            <a:endParaRPr lang="en-US" b="0" dirty="0">
              <a:effectLst/>
            </a:endParaRPr>
          </a:p>
        </p:txBody>
      </p:sp>
      <p:sp>
        <p:nvSpPr>
          <p:cNvPr id="12" name="TextBox 11">
            <a:extLst>
              <a:ext uri="{FF2B5EF4-FFF2-40B4-BE49-F238E27FC236}">
                <a16:creationId xmlns:a16="http://schemas.microsoft.com/office/drawing/2014/main" id="{504DCB38-F83F-E999-810C-F0E6D34278B1}"/>
              </a:ext>
            </a:extLst>
          </p:cNvPr>
          <p:cNvSpPr txBox="1"/>
          <p:nvPr/>
        </p:nvSpPr>
        <p:spPr>
          <a:xfrm>
            <a:off x="8032956" y="3328731"/>
            <a:ext cx="2890684" cy="369332"/>
          </a:xfrm>
          <a:prstGeom prst="rect">
            <a:avLst/>
          </a:prstGeom>
          <a:noFill/>
        </p:spPr>
        <p:txBody>
          <a:bodyPr wrap="square">
            <a:spAutoFit/>
          </a:bodyPr>
          <a:lstStyle/>
          <a:p>
            <a:pPr rtl="0">
              <a:buNone/>
            </a:pPr>
            <a:r>
              <a:rPr lang="en-IN" sz="1800" b="1" i="0" u="none" strike="noStrike" dirty="0">
                <a:solidFill>
                  <a:srgbClr val="000000"/>
                </a:solidFill>
                <a:effectLst/>
                <a:latin typeface="Times New Roman" panose="02020603050405020304" pitchFamily="18" charset="0"/>
              </a:rPr>
              <a:t>TGIF1</a:t>
            </a:r>
            <a:endParaRPr lang="en-IN" b="1" dirty="0">
              <a:effectLst/>
            </a:endParaRPr>
          </a:p>
        </p:txBody>
      </p:sp>
    </p:spTree>
    <p:extLst>
      <p:ext uri="{BB962C8B-B14F-4D97-AF65-F5344CB8AC3E}">
        <p14:creationId xmlns:p14="http://schemas.microsoft.com/office/powerpoint/2010/main" val="2573420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C290E7-C30C-7A3E-4B57-97AC56C43C1E}"/>
              </a:ext>
            </a:extLst>
          </p:cNvPr>
          <p:cNvSpPr txBox="1"/>
          <p:nvPr/>
        </p:nvSpPr>
        <p:spPr>
          <a:xfrm>
            <a:off x="491613" y="285586"/>
            <a:ext cx="6096000" cy="923330"/>
          </a:xfrm>
          <a:prstGeom prst="rect">
            <a:avLst/>
          </a:prstGeom>
          <a:noFill/>
        </p:spPr>
        <p:txBody>
          <a:bodyPr wrap="square">
            <a:spAutoFit/>
          </a:bodyPr>
          <a:lstStyle/>
          <a:p>
            <a:pPr rtl="0">
              <a:buNone/>
            </a:pPr>
            <a:r>
              <a:rPr lang="en-US" sz="1800" b="0" i="0" u="none" strike="noStrike" dirty="0">
                <a:solidFill>
                  <a:srgbClr val="000000"/>
                </a:solidFill>
                <a:effectLst/>
                <a:latin typeface="Times New Roman" panose="02020603050405020304" pitchFamily="18" charset="0"/>
              </a:rPr>
              <a:t>Genes common in iPSCs vs ESC datasets</a:t>
            </a:r>
            <a:endParaRPr lang="en-US" b="0" dirty="0">
              <a:effectLst/>
            </a:endParaRPr>
          </a:p>
          <a:p>
            <a:pPr>
              <a:buNone/>
            </a:pPr>
            <a:br>
              <a:rPr lang="en-US" dirty="0"/>
            </a:br>
            <a:endParaRPr lang="en-IN" dirty="0"/>
          </a:p>
        </p:txBody>
      </p:sp>
      <p:graphicFrame>
        <p:nvGraphicFramePr>
          <p:cNvPr id="3" name="Table 2">
            <a:extLst>
              <a:ext uri="{FF2B5EF4-FFF2-40B4-BE49-F238E27FC236}">
                <a16:creationId xmlns:a16="http://schemas.microsoft.com/office/drawing/2014/main" id="{6B71129A-21F8-CB4C-F6CB-03F969AC8112}"/>
              </a:ext>
            </a:extLst>
          </p:cNvPr>
          <p:cNvGraphicFramePr>
            <a:graphicFrameLocks noGrp="1"/>
          </p:cNvGraphicFramePr>
          <p:nvPr>
            <p:extLst>
              <p:ext uri="{D42A27DB-BD31-4B8C-83A1-F6EECF244321}">
                <p14:modId xmlns:p14="http://schemas.microsoft.com/office/powerpoint/2010/main" val="1532840174"/>
              </p:ext>
            </p:extLst>
          </p:nvPr>
        </p:nvGraphicFramePr>
        <p:xfrm>
          <a:off x="621531" y="747251"/>
          <a:ext cx="1969389" cy="5410218"/>
        </p:xfrm>
        <a:graphic>
          <a:graphicData uri="http://schemas.openxmlformats.org/drawingml/2006/table">
            <a:tbl>
              <a:tblPr/>
              <a:tblGrid>
                <a:gridCol w="1969389">
                  <a:extLst>
                    <a:ext uri="{9D8B030D-6E8A-4147-A177-3AD203B41FA5}">
                      <a16:colId xmlns:a16="http://schemas.microsoft.com/office/drawing/2014/main" val="442770066"/>
                    </a:ext>
                  </a:extLst>
                </a:gridCol>
              </a:tblGrid>
              <a:tr h="245919">
                <a:tc>
                  <a:txBody>
                    <a:bodyPr/>
                    <a:lstStyle/>
                    <a:p>
                      <a:pPr algn="l" rtl="0" fontAlgn="b">
                        <a:buNone/>
                      </a:pPr>
                      <a:r>
                        <a:rPr lang="en-IN" sz="1300" b="0" i="0" u="none" strike="noStrike" dirty="0">
                          <a:effectLst/>
                          <a:latin typeface="Arial" panose="020B0604020202020204" pitchFamily="34" charset="0"/>
                        </a:rPr>
                        <a:t>PPP1R12B</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926010009"/>
                  </a:ext>
                </a:extLst>
              </a:tr>
              <a:tr h="245919">
                <a:tc>
                  <a:txBody>
                    <a:bodyPr/>
                    <a:lstStyle/>
                    <a:p>
                      <a:pPr algn="l" rtl="0" fontAlgn="b">
                        <a:buNone/>
                      </a:pPr>
                      <a:r>
                        <a:rPr lang="en-IN" sz="1300" b="0" i="0" u="none" strike="noStrike" dirty="0">
                          <a:effectLst/>
                          <a:latin typeface="Arial" panose="020B0604020202020204" pitchFamily="34" charset="0"/>
                        </a:rPr>
                        <a:t>KCNJ13</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35139504"/>
                  </a:ext>
                </a:extLst>
              </a:tr>
              <a:tr h="245919">
                <a:tc>
                  <a:txBody>
                    <a:bodyPr/>
                    <a:lstStyle/>
                    <a:p>
                      <a:pPr algn="l" rtl="0" fontAlgn="b">
                        <a:buNone/>
                      </a:pPr>
                      <a:r>
                        <a:rPr lang="en-IN" sz="1300" b="0" i="0" u="none" strike="noStrike" dirty="0">
                          <a:effectLst/>
                          <a:latin typeface="Arial" panose="020B0604020202020204" pitchFamily="34" charset="0"/>
                        </a:rPr>
                        <a:t>SMAD2</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045943981"/>
                  </a:ext>
                </a:extLst>
              </a:tr>
              <a:tr h="245919">
                <a:tc>
                  <a:txBody>
                    <a:bodyPr/>
                    <a:lstStyle/>
                    <a:p>
                      <a:pPr algn="l" rtl="0" fontAlgn="b">
                        <a:buNone/>
                      </a:pPr>
                      <a:r>
                        <a:rPr lang="en-IN" sz="1300" b="0" i="0" u="none" strike="noStrike" dirty="0">
                          <a:effectLst/>
                          <a:latin typeface="Arial" panose="020B0604020202020204" pitchFamily="34" charset="0"/>
                        </a:rPr>
                        <a:t>KCNQ1OT1</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534743474"/>
                  </a:ext>
                </a:extLst>
              </a:tr>
              <a:tr h="245919">
                <a:tc>
                  <a:txBody>
                    <a:bodyPr/>
                    <a:lstStyle/>
                    <a:p>
                      <a:pPr algn="l" rtl="0" fontAlgn="b">
                        <a:buNone/>
                      </a:pPr>
                      <a:r>
                        <a:rPr lang="en-IN" sz="1300" b="0" i="0" u="none" strike="noStrike" dirty="0">
                          <a:effectLst/>
                          <a:latin typeface="Arial" panose="020B0604020202020204" pitchFamily="34" charset="0"/>
                        </a:rPr>
                        <a:t>RBPMS</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56696631"/>
                  </a:ext>
                </a:extLst>
              </a:tr>
              <a:tr h="245919">
                <a:tc>
                  <a:txBody>
                    <a:bodyPr/>
                    <a:lstStyle/>
                    <a:p>
                      <a:pPr algn="l" rtl="0" fontAlgn="b">
                        <a:buNone/>
                      </a:pPr>
                      <a:r>
                        <a:rPr lang="en-IN" sz="1300" b="0" i="0" u="none" strike="noStrike" dirty="0">
                          <a:effectLst/>
                          <a:latin typeface="Arial" panose="020B0604020202020204" pitchFamily="34" charset="0"/>
                        </a:rPr>
                        <a:t>GPC6</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77961813"/>
                  </a:ext>
                </a:extLst>
              </a:tr>
              <a:tr h="245919">
                <a:tc>
                  <a:txBody>
                    <a:bodyPr/>
                    <a:lstStyle/>
                    <a:p>
                      <a:pPr algn="l" rtl="0" fontAlgn="b">
                        <a:buNone/>
                      </a:pPr>
                      <a:r>
                        <a:rPr lang="en-IN" sz="1300" b="0" i="0" u="none" strike="noStrike" dirty="0">
                          <a:effectLst/>
                          <a:latin typeface="Arial" panose="020B0604020202020204" pitchFamily="34" charset="0"/>
                        </a:rPr>
                        <a:t>MBOAT1</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361218203"/>
                  </a:ext>
                </a:extLst>
              </a:tr>
              <a:tr h="245919">
                <a:tc>
                  <a:txBody>
                    <a:bodyPr/>
                    <a:lstStyle/>
                    <a:p>
                      <a:pPr algn="l" rtl="0" fontAlgn="b">
                        <a:buNone/>
                      </a:pPr>
                      <a:r>
                        <a:rPr lang="en-IN" sz="1300" b="0" i="0" u="none" strike="noStrike" dirty="0">
                          <a:effectLst/>
                          <a:latin typeface="Arial" panose="020B0604020202020204" pitchFamily="34" charset="0"/>
                        </a:rPr>
                        <a:t>ZNF488</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234256122"/>
                  </a:ext>
                </a:extLst>
              </a:tr>
              <a:tr h="245919">
                <a:tc>
                  <a:txBody>
                    <a:bodyPr/>
                    <a:lstStyle/>
                    <a:p>
                      <a:pPr algn="l" rtl="0" fontAlgn="b">
                        <a:buNone/>
                      </a:pPr>
                      <a:r>
                        <a:rPr lang="en-IN" sz="1300" b="0" i="0" u="none" strike="noStrike" dirty="0">
                          <a:effectLst/>
                          <a:latin typeface="Arial" panose="020B0604020202020204" pitchFamily="34" charset="0"/>
                        </a:rPr>
                        <a:t>LRRC2</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434267769"/>
                  </a:ext>
                </a:extLst>
              </a:tr>
              <a:tr h="245919">
                <a:tc>
                  <a:txBody>
                    <a:bodyPr/>
                    <a:lstStyle/>
                    <a:p>
                      <a:pPr algn="l" rtl="0" fontAlgn="b">
                        <a:buNone/>
                      </a:pPr>
                      <a:r>
                        <a:rPr lang="en-IN" sz="1300" b="0" i="0" u="none" strike="noStrike" dirty="0">
                          <a:effectLst/>
                          <a:latin typeface="Arial" panose="020B0604020202020204" pitchFamily="34" charset="0"/>
                        </a:rPr>
                        <a:t>SMCO4</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870064307"/>
                  </a:ext>
                </a:extLst>
              </a:tr>
              <a:tr h="245919">
                <a:tc>
                  <a:txBody>
                    <a:bodyPr/>
                    <a:lstStyle/>
                    <a:p>
                      <a:pPr algn="l" rtl="0" fontAlgn="b">
                        <a:buNone/>
                      </a:pPr>
                      <a:r>
                        <a:rPr lang="en-IN" sz="1300" b="0" i="0" u="none" strike="noStrike" dirty="0">
                          <a:effectLst/>
                          <a:latin typeface="Arial" panose="020B0604020202020204" pitchFamily="34" charset="0"/>
                        </a:rPr>
                        <a:t>ZBED3</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079077196"/>
                  </a:ext>
                </a:extLst>
              </a:tr>
              <a:tr h="245919">
                <a:tc>
                  <a:txBody>
                    <a:bodyPr/>
                    <a:lstStyle/>
                    <a:p>
                      <a:pPr algn="l" rtl="0" fontAlgn="b">
                        <a:buNone/>
                      </a:pPr>
                      <a:r>
                        <a:rPr lang="en-IN" sz="1300" b="0" i="0" u="none" strike="noStrike" dirty="0">
                          <a:effectLst/>
                          <a:latin typeface="Arial" panose="020B0604020202020204" pitchFamily="34" charset="0"/>
                        </a:rPr>
                        <a:t>TNFSF4</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72886041"/>
                  </a:ext>
                </a:extLst>
              </a:tr>
              <a:tr h="245919">
                <a:tc>
                  <a:txBody>
                    <a:bodyPr/>
                    <a:lstStyle/>
                    <a:p>
                      <a:pPr algn="l" rtl="0" fontAlgn="b">
                        <a:buNone/>
                      </a:pPr>
                      <a:r>
                        <a:rPr lang="en-IN" sz="1300" b="0" i="0" u="none" strike="noStrike" dirty="0">
                          <a:effectLst/>
                          <a:latin typeface="Arial" panose="020B0604020202020204" pitchFamily="34" charset="0"/>
                        </a:rPr>
                        <a:t>EXPH5</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375190879"/>
                  </a:ext>
                </a:extLst>
              </a:tr>
              <a:tr h="245919">
                <a:tc>
                  <a:txBody>
                    <a:bodyPr/>
                    <a:lstStyle/>
                    <a:p>
                      <a:pPr algn="l" rtl="0" fontAlgn="b">
                        <a:buNone/>
                      </a:pPr>
                      <a:r>
                        <a:rPr lang="en-IN" sz="1300" b="0" i="0" u="none" strike="noStrike" dirty="0">
                          <a:effectLst/>
                          <a:latin typeface="Arial" panose="020B0604020202020204" pitchFamily="34" charset="0"/>
                        </a:rPr>
                        <a:t>PHACTR1</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291495259"/>
                  </a:ext>
                </a:extLst>
              </a:tr>
              <a:tr h="245919">
                <a:tc>
                  <a:txBody>
                    <a:bodyPr/>
                    <a:lstStyle/>
                    <a:p>
                      <a:pPr algn="l" rtl="0" fontAlgn="b">
                        <a:buNone/>
                      </a:pPr>
                      <a:r>
                        <a:rPr lang="en-IN" sz="1300" b="0" i="0" u="none" strike="noStrike" dirty="0">
                          <a:effectLst/>
                          <a:latin typeface="Arial" panose="020B0604020202020204" pitchFamily="34" charset="0"/>
                        </a:rPr>
                        <a:t>DNAH9</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272326128"/>
                  </a:ext>
                </a:extLst>
              </a:tr>
              <a:tr h="245919">
                <a:tc>
                  <a:txBody>
                    <a:bodyPr/>
                    <a:lstStyle/>
                    <a:p>
                      <a:pPr algn="l" rtl="0" fontAlgn="b">
                        <a:buNone/>
                      </a:pPr>
                      <a:r>
                        <a:rPr lang="en-IN" sz="1300" b="0" i="0" u="none" strike="noStrike" dirty="0">
                          <a:effectLst/>
                          <a:latin typeface="Arial" panose="020B0604020202020204" pitchFamily="34" charset="0"/>
                        </a:rPr>
                        <a:t>MAK</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223426456"/>
                  </a:ext>
                </a:extLst>
              </a:tr>
              <a:tr h="245919">
                <a:tc>
                  <a:txBody>
                    <a:bodyPr/>
                    <a:lstStyle/>
                    <a:p>
                      <a:pPr algn="l" rtl="0" fontAlgn="b">
                        <a:buNone/>
                      </a:pPr>
                      <a:r>
                        <a:rPr lang="en-IN" sz="1300" b="0" i="0" u="none" strike="noStrike" dirty="0">
                          <a:effectLst/>
                          <a:latin typeface="Arial" panose="020B0604020202020204" pitchFamily="34" charset="0"/>
                        </a:rPr>
                        <a:t>PART1</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210903102"/>
                  </a:ext>
                </a:extLst>
              </a:tr>
              <a:tr h="245919">
                <a:tc>
                  <a:txBody>
                    <a:bodyPr/>
                    <a:lstStyle/>
                    <a:p>
                      <a:pPr algn="l" rtl="0" fontAlgn="b">
                        <a:buNone/>
                      </a:pPr>
                      <a:r>
                        <a:rPr lang="en-IN" sz="1300" b="0" i="0" u="none" strike="noStrike" dirty="0">
                          <a:effectLst/>
                          <a:latin typeface="Arial" panose="020B0604020202020204" pitchFamily="34" charset="0"/>
                        </a:rPr>
                        <a:t>SYT10</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539183906"/>
                  </a:ext>
                </a:extLst>
              </a:tr>
              <a:tr h="245919">
                <a:tc>
                  <a:txBody>
                    <a:bodyPr/>
                    <a:lstStyle/>
                    <a:p>
                      <a:pPr algn="l" rtl="0" fontAlgn="b">
                        <a:buNone/>
                      </a:pPr>
                      <a:r>
                        <a:rPr lang="en-IN" sz="1300" b="0" i="0" u="none" strike="noStrike" dirty="0">
                          <a:effectLst/>
                          <a:latin typeface="Arial" panose="020B0604020202020204" pitchFamily="34" charset="0"/>
                        </a:rPr>
                        <a:t>GAB1</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627672936"/>
                  </a:ext>
                </a:extLst>
              </a:tr>
              <a:tr h="245919">
                <a:tc>
                  <a:txBody>
                    <a:bodyPr/>
                    <a:lstStyle/>
                    <a:p>
                      <a:pPr algn="l" rtl="0" fontAlgn="b">
                        <a:buNone/>
                      </a:pPr>
                      <a:r>
                        <a:rPr lang="en-IN" sz="1300" b="0" i="0" u="none" strike="noStrike" dirty="0">
                          <a:effectLst/>
                          <a:latin typeface="Arial" panose="020B0604020202020204" pitchFamily="34" charset="0"/>
                        </a:rPr>
                        <a:t>CCND2</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271041279"/>
                  </a:ext>
                </a:extLst>
              </a:tr>
              <a:tr h="245919">
                <a:tc>
                  <a:txBody>
                    <a:bodyPr/>
                    <a:lstStyle/>
                    <a:p>
                      <a:pPr algn="l" rtl="0" fontAlgn="b">
                        <a:buNone/>
                      </a:pPr>
                      <a:r>
                        <a:rPr lang="en-IN" sz="1300" b="0" i="0" u="none" strike="noStrike" dirty="0">
                          <a:effectLst/>
                          <a:latin typeface="Arial" panose="020B0604020202020204" pitchFamily="34" charset="0"/>
                        </a:rPr>
                        <a:t>UTRN</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458332363"/>
                  </a:ext>
                </a:extLst>
              </a:tr>
              <a:tr h="245919">
                <a:tc>
                  <a:txBody>
                    <a:bodyPr/>
                    <a:lstStyle/>
                    <a:p>
                      <a:pPr algn="l" rtl="0" fontAlgn="b">
                        <a:buNone/>
                      </a:pPr>
                      <a:r>
                        <a:rPr lang="en-IN" sz="1300" b="0" i="0" u="none" strike="noStrike" dirty="0">
                          <a:effectLst/>
                          <a:latin typeface="Arial" panose="020B0604020202020204" pitchFamily="34" charset="0"/>
                        </a:rPr>
                        <a:t>ZNF875</a:t>
                      </a:r>
                    </a:p>
                  </a:txBody>
                  <a:tcPr marL="16468" marR="16468" marT="10978" marB="10978"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878665040"/>
                  </a:ext>
                </a:extLst>
              </a:tr>
            </a:tbl>
          </a:graphicData>
        </a:graphic>
      </p:graphicFrame>
    </p:spTree>
    <p:extLst>
      <p:ext uri="{BB962C8B-B14F-4D97-AF65-F5344CB8AC3E}">
        <p14:creationId xmlns:p14="http://schemas.microsoft.com/office/powerpoint/2010/main" val="2447916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5E4193-418D-AB0C-776D-8E984C8E90DD}"/>
              </a:ext>
            </a:extLst>
          </p:cNvPr>
          <p:cNvSpPr txBox="1"/>
          <p:nvPr/>
        </p:nvSpPr>
        <p:spPr>
          <a:xfrm>
            <a:off x="943897" y="285586"/>
            <a:ext cx="6096000" cy="923330"/>
          </a:xfrm>
          <a:prstGeom prst="rect">
            <a:avLst/>
          </a:prstGeom>
          <a:noFill/>
        </p:spPr>
        <p:txBody>
          <a:bodyPr wrap="square">
            <a:spAutoFit/>
          </a:bodyPr>
          <a:lstStyle/>
          <a:p>
            <a:pPr algn="ctr" rtl="0">
              <a:buNone/>
            </a:pPr>
            <a:r>
              <a:rPr lang="en-US" sz="1800" b="0" i="0" u="none" strike="noStrike" dirty="0">
                <a:solidFill>
                  <a:srgbClr val="000000"/>
                </a:solidFill>
                <a:effectLst/>
                <a:latin typeface="Times New Roman" panose="02020603050405020304" pitchFamily="18" charset="0"/>
              </a:rPr>
              <a:t>Genes common in iPSCs derivatives datasets</a:t>
            </a:r>
            <a:endParaRPr lang="en-US" b="0" dirty="0">
              <a:effectLst/>
            </a:endParaRPr>
          </a:p>
          <a:p>
            <a:pPr>
              <a:buNone/>
            </a:pPr>
            <a:br>
              <a:rPr lang="en-US" dirty="0"/>
            </a:br>
            <a:endParaRPr lang="en-IN" dirty="0"/>
          </a:p>
        </p:txBody>
      </p:sp>
      <p:sp>
        <p:nvSpPr>
          <p:cNvPr id="10" name="TextBox 9">
            <a:extLst>
              <a:ext uri="{FF2B5EF4-FFF2-40B4-BE49-F238E27FC236}">
                <a16:creationId xmlns:a16="http://schemas.microsoft.com/office/drawing/2014/main" id="{9F80532A-F709-8A42-1E2B-28ABFDD19021}"/>
              </a:ext>
            </a:extLst>
          </p:cNvPr>
          <p:cNvSpPr txBox="1"/>
          <p:nvPr/>
        </p:nvSpPr>
        <p:spPr>
          <a:xfrm>
            <a:off x="314632" y="671691"/>
            <a:ext cx="6096000" cy="6186309"/>
          </a:xfrm>
          <a:prstGeom prst="rect">
            <a:avLst/>
          </a:prstGeom>
          <a:noFill/>
        </p:spPr>
        <p:txBody>
          <a:bodyPr wrap="square">
            <a:spAutoFit/>
          </a:bodyPr>
          <a:lstStyle/>
          <a:p>
            <a:pPr rtl="0">
              <a:buNone/>
            </a:pPr>
            <a:r>
              <a:rPr lang="en-IN" sz="1800" b="0" i="0" u="none" strike="noStrike" dirty="0">
                <a:solidFill>
                  <a:srgbClr val="000000"/>
                </a:solidFill>
                <a:effectLst/>
                <a:latin typeface="Times New Roman" panose="02020603050405020304" pitchFamily="18" charset="0"/>
              </a:rPr>
              <a:t>ADORA2B</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AHDC1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APBB2</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APOOL</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ARL4C</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ARMC8</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ATP6V1A</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BCL2L1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BIRC3</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CAMK2N1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CASP3</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CDK17</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CERS6</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CFLAR</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COMMD7</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CPNE7</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CRISPLD2</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CSF1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DDIT4L</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DUSP10</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EHHADH</a:t>
            </a:r>
            <a:endParaRPr lang="en-IN" b="0" dirty="0">
              <a:effectLst/>
            </a:endParaRPr>
          </a:p>
          <a:p>
            <a:pPr rtl="0">
              <a:buNone/>
            </a:pPr>
            <a:endParaRPr lang="en-IN" b="0" dirty="0">
              <a:effectLst/>
            </a:endParaRPr>
          </a:p>
        </p:txBody>
      </p:sp>
      <p:sp>
        <p:nvSpPr>
          <p:cNvPr id="12" name="TextBox 11">
            <a:extLst>
              <a:ext uri="{FF2B5EF4-FFF2-40B4-BE49-F238E27FC236}">
                <a16:creationId xmlns:a16="http://schemas.microsoft.com/office/drawing/2014/main" id="{F25AEAD3-EF81-5B20-4776-474FEAA5FE64}"/>
              </a:ext>
            </a:extLst>
          </p:cNvPr>
          <p:cNvSpPr txBox="1"/>
          <p:nvPr/>
        </p:nvSpPr>
        <p:spPr>
          <a:xfrm>
            <a:off x="2212259" y="671691"/>
            <a:ext cx="6096000" cy="6186309"/>
          </a:xfrm>
          <a:prstGeom prst="rect">
            <a:avLst/>
          </a:prstGeom>
          <a:noFill/>
        </p:spPr>
        <p:txBody>
          <a:bodyPr wrap="square">
            <a:spAutoFit/>
          </a:bodyPr>
          <a:lstStyle/>
          <a:p>
            <a:pPr rtl="0">
              <a:buNone/>
            </a:pPr>
            <a:r>
              <a:rPr lang="en-IN" sz="1800" b="0" i="0" u="none" strike="noStrike" dirty="0">
                <a:solidFill>
                  <a:srgbClr val="000000"/>
                </a:solidFill>
                <a:effectLst/>
                <a:latin typeface="Times New Roman" panose="02020603050405020304" pitchFamily="18" charset="0"/>
              </a:rPr>
              <a:t>GK5</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GSAP</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HMOX1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HPS5</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IFNGR1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IRS2</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KCTD2</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LRRC8A</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MAP1A</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MBOAT2</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MGLL</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MIB1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MTHFD2</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MYC</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NEK7</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NIPAL2</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NR3C1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NUDT6</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PER1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PHLDB2</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PI4K2A</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PIK3R1</a:t>
            </a:r>
            <a:endParaRPr lang="en-IN" b="0" dirty="0">
              <a:effectLst/>
            </a:endParaRPr>
          </a:p>
        </p:txBody>
      </p:sp>
      <p:sp>
        <p:nvSpPr>
          <p:cNvPr id="14" name="TextBox 13">
            <a:extLst>
              <a:ext uri="{FF2B5EF4-FFF2-40B4-BE49-F238E27FC236}">
                <a16:creationId xmlns:a16="http://schemas.microsoft.com/office/drawing/2014/main" id="{1D4CDB4B-5F11-27CE-AFE0-7A12D67B78D8}"/>
              </a:ext>
            </a:extLst>
          </p:cNvPr>
          <p:cNvSpPr txBox="1"/>
          <p:nvPr/>
        </p:nvSpPr>
        <p:spPr>
          <a:xfrm>
            <a:off x="4817806" y="671691"/>
            <a:ext cx="6096000" cy="6186309"/>
          </a:xfrm>
          <a:prstGeom prst="rect">
            <a:avLst/>
          </a:prstGeom>
          <a:noFill/>
        </p:spPr>
        <p:txBody>
          <a:bodyPr wrap="square">
            <a:spAutoFit/>
          </a:bodyPr>
          <a:lstStyle/>
          <a:p>
            <a:r>
              <a:rPr lang="en-IN" dirty="0">
                <a:solidFill>
                  <a:srgbClr val="000000"/>
                </a:solidFill>
                <a:latin typeface="Times New Roman" panose="02020603050405020304" pitchFamily="18" charset="0"/>
              </a:rPr>
              <a:t>ENC1</a:t>
            </a:r>
            <a:endParaRPr lang="en-IN" b="0" dirty="0">
              <a:effectLst/>
            </a:endParaRPr>
          </a:p>
          <a:p>
            <a:r>
              <a:rPr lang="en-IN" dirty="0">
                <a:solidFill>
                  <a:srgbClr val="000000"/>
                </a:solidFill>
                <a:latin typeface="Times New Roman" panose="02020603050405020304" pitchFamily="18" charset="0"/>
              </a:rPr>
              <a:t>EPG5</a:t>
            </a:r>
            <a:endParaRPr lang="en-IN" b="0" dirty="0">
              <a:effectLst/>
            </a:endParaRPr>
          </a:p>
          <a:p>
            <a:r>
              <a:rPr lang="en-IN" dirty="0">
                <a:solidFill>
                  <a:srgbClr val="000000"/>
                </a:solidFill>
                <a:latin typeface="Times New Roman" panose="02020603050405020304" pitchFamily="18" charset="0"/>
              </a:rPr>
              <a:t>EPHA </a:t>
            </a:r>
          </a:p>
          <a:p>
            <a:r>
              <a:rPr lang="en-IN" dirty="0">
                <a:solidFill>
                  <a:srgbClr val="000000"/>
                </a:solidFill>
                <a:latin typeface="Times New Roman" panose="02020603050405020304" pitchFamily="18" charset="0"/>
              </a:rPr>
              <a:t>FGD4</a:t>
            </a:r>
            <a:endParaRPr lang="en-IN" b="0" dirty="0">
              <a:effectLst/>
            </a:endParaRPr>
          </a:p>
          <a:p>
            <a:r>
              <a:rPr lang="en-IN" dirty="0">
                <a:solidFill>
                  <a:srgbClr val="000000"/>
                </a:solidFill>
                <a:latin typeface="Times New Roman" panose="02020603050405020304" pitchFamily="18" charset="0"/>
              </a:rPr>
              <a:t>FOXN2</a:t>
            </a:r>
            <a:endParaRPr lang="en-IN" b="0" dirty="0">
              <a:effectLst/>
            </a:endParaRPr>
          </a:p>
          <a:p>
            <a:r>
              <a:rPr lang="en-IN" dirty="0">
                <a:solidFill>
                  <a:srgbClr val="000000"/>
                </a:solidFill>
                <a:latin typeface="Times New Roman" panose="02020603050405020304" pitchFamily="18" charset="0"/>
              </a:rPr>
              <a:t>FOXP1</a:t>
            </a:r>
            <a:endParaRPr lang="en-IN" b="0" dirty="0">
              <a:effectLst/>
            </a:endParaRPr>
          </a:p>
          <a:p>
            <a:r>
              <a:rPr lang="en-IN" dirty="0">
                <a:solidFill>
                  <a:srgbClr val="000000"/>
                </a:solidFill>
                <a:latin typeface="Times New Roman" panose="02020603050405020304" pitchFamily="18" charset="0"/>
              </a:rPr>
              <a:t>FRMD4B</a:t>
            </a:r>
            <a:endParaRPr lang="en-IN" b="0" dirty="0">
              <a:effectLst/>
            </a:endParaRPr>
          </a:p>
          <a:p>
            <a:r>
              <a:rPr lang="en-IN" dirty="0">
                <a:solidFill>
                  <a:srgbClr val="000000"/>
                </a:solidFill>
                <a:latin typeface="Times New Roman" panose="02020603050405020304" pitchFamily="18" charset="0"/>
              </a:rPr>
              <a:t>GAS1</a:t>
            </a:r>
            <a:endParaRPr lang="en-IN" b="0" dirty="0">
              <a:effectLst/>
            </a:endParaRPr>
          </a:p>
          <a:p>
            <a:r>
              <a:rPr lang="en-IN" dirty="0">
                <a:solidFill>
                  <a:srgbClr val="000000"/>
                </a:solidFill>
                <a:latin typeface="Times New Roman" panose="02020603050405020304" pitchFamily="18" charset="0"/>
              </a:rPr>
              <a:t>GCNT1</a:t>
            </a:r>
            <a:endParaRPr lang="en-IN" b="0" dirty="0">
              <a:effectLst/>
            </a:endParaRPr>
          </a:p>
          <a:p>
            <a:r>
              <a:rPr lang="en-IN" dirty="0">
                <a:solidFill>
                  <a:srgbClr val="000000"/>
                </a:solidFill>
                <a:latin typeface="Times New Roman" panose="02020603050405020304" pitchFamily="18" charset="0"/>
              </a:rPr>
              <a:t>GEM</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PLEKHA7</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RALA</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RALGPS2</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RPS6KA3</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SEMA3A</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SLC11A2</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SLC7A11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SNX30</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SORT1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SOX13</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TAF4B</a:t>
            </a:r>
            <a:endParaRPr lang="en-IN" b="0" dirty="0">
              <a:effectLst/>
            </a:endParaRPr>
          </a:p>
          <a:p>
            <a:pPr rtl="0">
              <a:buNone/>
            </a:pPr>
            <a:endParaRPr lang="en-IN" b="0" dirty="0">
              <a:effectLst/>
            </a:endParaRPr>
          </a:p>
        </p:txBody>
      </p:sp>
      <p:sp>
        <p:nvSpPr>
          <p:cNvPr id="16" name="TextBox 15">
            <a:extLst>
              <a:ext uri="{FF2B5EF4-FFF2-40B4-BE49-F238E27FC236}">
                <a16:creationId xmlns:a16="http://schemas.microsoft.com/office/drawing/2014/main" id="{68674EFB-481F-1701-5DFF-9565532EDD04}"/>
              </a:ext>
            </a:extLst>
          </p:cNvPr>
          <p:cNvSpPr txBox="1"/>
          <p:nvPr/>
        </p:nvSpPr>
        <p:spPr>
          <a:xfrm>
            <a:off x="6853084" y="747251"/>
            <a:ext cx="6096000" cy="1754326"/>
          </a:xfrm>
          <a:prstGeom prst="rect">
            <a:avLst/>
          </a:prstGeom>
          <a:noFill/>
        </p:spPr>
        <p:txBody>
          <a:bodyPr wrap="square">
            <a:spAutoFit/>
          </a:bodyPr>
          <a:lstStyle/>
          <a:p>
            <a:pPr rtl="0">
              <a:buNone/>
            </a:pPr>
            <a:r>
              <a:rPr lang="en-IN" sz="1800" b="0" i="0" u="none" strike="noStrike" dirty="0">
                <a:solidFill>
                  <a:srgbClr val="000000"/>
                </a:solidFill>
                <a:effectLst/>
                <a:latin typeface="Times New Roman" panose="02020603050405020304" pitchFamily="18" charset="0"/>
              </a:rPr>
              <a:t>TCEAL4</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TGIF1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TXNIP</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UPP1</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USP53</a:t>
            </a:r>
            <a:endParaRPr lang="en-IN" b="0" dirty="0">
              <a:effectLst/>
            </a:endParaRPr>
          </a:p>
          <a:p>
            <a:pPr rtl="0">
              <a:buNone/>
            </a:pPr>
            <a:r>
              <a:rPr lang="en-IN" sz="1800" b="0" i="0" u="none" strike="noStrike" dirty="0">
                <a:solidFill>
                  <a:srgbClr val="000000"/>
                </a:solidFill>
                <a:effectLst/>
                <a:latin typeface="Times New Roman" panose="02020603050405020304" pitchFamily="18" charset="0"/>
              </a:rPr>
              <a:t>ZEB1</a:t>
            </a:r>
            <a:endParaRPr lang="en-IN" dirty="0"/>
          </a:p>
        </p:txBody>
      </p:sp>
    </p:spTree>
    <p:extLst>
      <p:ext uri="{BB962C8B-B14F-4D97-AF65-F5344CB8AC3E}">
        <p14:creationId xmlns:p14="http://schemas.microsoft.com/office/powerpoint/2010/main" val="1396127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2494147D-8EAB-E1D8-729E-C295B2083B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0880" y="361827"/>
            <a:ext cx="6002901" cy="570905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7DAF0B2-DDEC-5E9C-95DA-6666BCC61B33}"/>
              </a:ext>
            </a:extLst>
          </p:cNvPr>
          <p:cNvSpPr txBox="1"/>
          <p:nvPr/>
        </p:nvSpPr>
        <p:spPr>
          <a:xfrm>
            <a:off x="2594330" y="6070880"/>
            <a:ext cx="6096000" cy="1200329"/>
          </a:xfrm>
          <a:prstGeom prst="rect">
            <a:avLst/>
          </a:prstGeom>
          <a:noFill/>
        </p:spPr>
        <p:txBody>
          <a:bodyPr wrap="square">
            <a:spAutoFit/>
          </a:bodyPr>
          <a:lstStyle/>
          <a:p>
            <a:pPr algn="ctr" rtl="0">
              <a:buNone/>
            </a:pPr>
            <a:r>
              <a:rPr lang="en-US" sz="1800" b="0" i="0" u="none" strike="noStrike" dirty="0">
                <a:solidFill>
                  <a:srgbClr val="000000"/>
                </a:solidFill>
                <a:effectLst/>
                <a:latin typeface="Times New Roman" panose="02020603050405020304" pitchFamily="18" charset="0"/>
              </a:rPr>
              <a:t>Fig 1: Intersection matrix of all 7 datasets depicting common genes and Jaccard Index.</a:t>
            </a:r>
            <a:endParaRPr lang="en-US" b="0" dirty="0">
              <a:effectLst/>
            </a:endParaRPr>
          </a:p>
          <a:p>
            <a:pPr>
              <a:buNone/>
            </a:pPr>
            <a:br>
              <a:rPr lang="en-US" dirty="0"/>
            </a:br>
            <a:endParaRPr lang="en-IN" dirty="0"/>
          </a:p>
        </p:txBody>
      </p:sp>
    </p:spTree>
    <p:extLst>
      <p:ext uri="{BB962C8B-B14F-4D97-AF65-F5344CB8AC3E}">
        <p14:creationId xmlns:p14="http://schemas.microsoft.com/office/powerpoint/2010/main" val="641208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12184F5F-1AB7-210A-9ECB-59814F86D7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539261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D44BD49-9AF3-E79B-5235-397828EC5FC9}"/>
              </a:ext>
            </a:extLst>
          </p:cNvPr>
          <p:cNvSpPr txBox="1"/>
          <p:nvPr/>
        </p:nvSpPr>
        <p:spPr>
          <a:xfrm>
            <a:off x="3048000" y="5618292"/>
            <a:ext cx="6096000" cy="1200329"/>
          </a:xfrm>
          <a:prstGeom prst="rect">
            <a:avLst/>
          </a:prstGeom>
          <a:noFill/>
        </p:spPr>
        <p:txBody>
          <a:bodyPr wrap="square">
            <a:spAutoFit/>
          </a:bodyPr>
          <a:lstStyle/>
          <a:p>
            <a:pPr algn="ctr" rtl="0">
              <a:buNone/>
            </a:pPr>
            <a:r>
              <a:rPr lang="en-US" sz="1800" b="0" i="0" u="none" strike="noStrike" dirty="0">
                <a:solidFill>
                  <a:srgbClr val="000000"/>
                </a:solidFill>
                <a:effectLst/>
                <a:latin typeface="Times New Roman" panose="02020603050405020304" pitchFamily="18" charset="0"/>
              </a:rPr>
              <a:t>Fig 2: </a:t>
            </a:r>
            <a:r>
              <a:rPr lang="en-US" sz="1800" b="0" i="0" u="none" strike="noStrike" dirty="0" err="1">
                <a:solidFill>
                  <a:srgbClr val="000000"/>
                </a:solidFill>
                <a:effectLst/>
                <a:latin typeface="Times New Roman" panose="02020603050405020304" pitchFamily="18" charset="0"/>
              </a:rPr>
              <a:t>Reactome</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visualisation</a:t>
            </a:r>
            <a:r>
              <a:rPr lang="en-US" sz="1800" b="0" i="0" u="none" strike="noStrike" dirty="0">
                <a:solidFill>
                  <a:srgbClr val="000000"/>
                </a:solidFill>
                <a:effectLst/>
                <a:latin typeface="Times New Roman" panose="02020603050405020304" pitchFamily="18" charset="0"/>
              </a:rPr>
              <a:t> of pathways common in </a:t>
            </a:r>
            <a:r>
              <a:rPr lang="en-US" sz="1800" b="0" i="0" u="none" strike="noStrike" dirty="0" err="1">
                <a:solidFill>
                  <a:srgbClr val="000000"/>
                </a:solidFill>
                <a:effectLst/>
                <a:latin typeface="Times New Roman" panose="02020603050405020304" pitchFamily="18" charset="0"/>
              </a:rPr>
              <a:t>atleast</a:t>
            </a:r>
            <a:r>
              <a:rPr lang="en-US" sz="1800" b="0" i="0" u="none" strike="noStrike" dirty="0">
                <a:solidFill>
                  <a:srgbClr val="000000"/>
                </a:solidFill>
                <a:effectLst/>
                <a:latin typeface="Times New Roman" panose="02020603050405020304" pitchFamily="18" charset="0"/>
              </a:rPr>
              <a:t> 6/7 datasets at a time</a:t>
            </a:r>
            <a:endParaRPr lang="en-US" b="0" dirty="0">
              <a:effectLst/>
            </a:endParaRPr>
          </a:p>
          <a:p>
            <a:pPr>
              <a:buNone/>
            </a:pPr>
            <a:br>
              <a:rPr lang="en-US" dirty="0"/>
            </a:br>
            <a:endParaRPr lang="en-IN" dirty="0"/>
          </a:p>
        </p:txBody>
      </p:sp>
    </p:spTree>
    <p:extLst>
      <p:ext uri="{BB962C8B-B14F-4D97-AF65-F5344CB8AC3E}">
        <p14:creationId xmlns:p14="http://schemas.microsoft.com/office/powerpoint/2010/main" val="1649159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4C60971F-43E7-CF0E-3D28-7F7BE439B3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65349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93E857E-56F8-7B12-44D9-5384E40FB84C}"/>
              </a:ext>
            </a:extLst>
          </p:cNvPr>
          <p:cNvSpPr txBox="1"/>
          <p:nvPr/>
        </p:nvSpPr>
        <p:spPr>
          <a:xfrm>
            <a:off x="8791074" y="3271862"/>
            <a:ext cx="3400926" cy="2031325"/>
          </a:xfrm>
          <a:prstGeom prst="rect">
            <a:avLst/>
          </a:prstGeom>
          <a:noFill/>
        </p:spPr>
        <p:txBody>
          <a:bodyPr wrap="square">
            <a:spAutoFit/>
          </a:bodyPr>
          <a:lstStyle/>
          <a:p>
            <a:pPr algn="ctr" rtl="0">
              <a:buNone/>
            </a:pPr>
            <a:r>
              <a:rPr lang="en-US" sz="1800" b="0" i="0" u="none" strike="noStrike" dirty="0">
                <a:solidFill>
                  <a:srgbClr val="000000"/>
                </a:solidFill>
                <a:effectLst/>
                <a:latin typeface="Times New Roman" panose="02020603050405020304" pitchFamily="18" charset="0"/>
              </a:rPr>
              <a:t>Fig 3: Genes with high occurrences and their interactions at protein level. Different </a:t>
            </a:r>
            <a:r>
              <a:rPr lang="en-US" sz="1800" b="0" i="0" u="none" strike="noStrike" dirty="0" err="1">
                <a:solidFill>
                  <a:srgbClr val="000000"/>
                </a:solidFill>
                <a:effectLst/>
                <a:latin typeface="Times New Roman" panose="02020603050405020304" pitchFamily="18" charset="0"/>
              </a:rPr>
              <a:t>colours</a:t>
            </a:r>
            <a:r>
              <a:rPr lang="en-US" sz="1800" b="0" i="0" u="none" strike="noStrike" dirty="0">
                <a:solidFill>
                  <a:srgbClr val="000000"/>
                </a:solidFill>
                <a:effectLst/>
                <a:latin typeface="Times New Roman" panose="02020603050405020304" pitchFamily="18" charset="0"/>
              </a:rPr>
              <a:t> depict different k-means clusters. Reg is cluster one. </a:t>
            </a:r>
            <a:endParaRPr lang="en-US" b="0" dirty="0">
              <a:effectLst/>
            </a:endParaRPr>
          </a:p>
          <a:p>
            <a:pPr>
              <a:buNone/>
            </a:pPr>
            <a:br>
              <a:rPr lang="en-US" dirty="0"/>
            </a:br>
            <a:endParaRPr lang="en-IN" dirty="0"/>
          </a:p>
        </p:txBody>
      </p:sp>
    </p:spTree>
    <p:extLst>
      <p:ext uri="{BB962C8B-B14F-4D97-AF65-F5344CB8AC3E}">
        <p14:creationId xmlns:p14="http://schemas.microsoft.com/office/powerpoint/2010/main" val="1055448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94C7EEFB-8518-563D-14A5-DAEC0255B0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12186419" cy="539014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89049EE-8381-F03E-F84F-1958E5287E90}"/>
              </a:ext>
            </a:extLst>
          </p:cNvPr>
          <p:cNvSpPr txBox="1"/>
          <p:nvPr/>
        </p:nvSpPr>
        <p:spPr>
          <a:xfrm>
            <a:off x="3045208" y="5511878"/>
            <a:ext cx="6096000" cy="1200329"/>
          </a:xfrm>
          <a:prstGeom prst="rect">
            <a:avLst/>
          </a:prstGeom>
          <a:noFill/>
        </p:spPr>
        <p:txBody>
          <a:bodyPr wrap="square">
            <a:spAutoFit/>
          </a:bodyPr>
          <a:lstStyle/>
          <a:p>
            <a:pPr algn="ctr" rtl="0">
              <a:buNone/>
            </a:pPr>
            <a:r>
              <a:rPr lang="en-US" sz="1800" b="0" i="0" u="none" strike="noStrike" dirty="0">
                <a:solidFill>
                  <a:srgbClr val="000000"/>
                </a:solidFill>
                <a:effectLst/>
                <a:latin typeface="Times New Roman" panose="02020603050405020304" pitchFamily="18" charset="0"/>
              </a:rPr>
              <a:t>Fig 4: </a:t>
            </a:r>
            <a:r>
              <a:rPr lang="en-US" sz="1800" b="0" i="0" u="none" strike="noStrike" dirty="0" err="1">
                <a:solidFill>
                  <a:srgbClr val="000000"/>
                </a:solidFill>
                <a:effectLst/>
                <a:latin typeface="Times New Roman" panose="02020603050405020304" pitchFamily="18" charset="0"/>
              </a:rPr>
              <a:t>Reactome</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visualisation</a:t>
            </a:r>
            <a:r>
              <a:rPr lang="en-US" sz="1800" b="0" i="0" u="none" strike="noStrike" dirty="0">
                <a:solidFill>
                  <a:srgbClr val="000000"/>
                </a:solidFill>
                <a:effectLst/>
                <a:latin typeface="Times New Roman" panose="02020603050405020304" pitchFamily="18" charset="0"/>
              </a:rPr>
              <a:t> of genes from iPSCs vs ESC comparative</a:t>
            </a:r>
            <a:endParaRPr lang="en-US" b="0" dirty="0">
              <a:effectLst/>
            </a:endParaRPr>
          </a:p>
          <a:p>
            <a:pPr>
              <a:buNone/>
            </a:pPr>
            <a:br>
              <a:rPr lang="en-US" dirty="0"/>
            </a:br>
            <a:endParaRPr lang="en-IN" dirty="0"/>
          </a:p>
        </p:txBody>
      </p:sp>
    </p:spTree>
    <p:extLst>
      <p:ext uri="{BB962C8B-B14F-4D97-AF65-F5344CB8AC3E}">
        <p14:creationId xmlns:p14="http://schemas.microsoft.com/office/powerpoint/2010/main" val="400407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6" name="Slide Background">
            <a:extLst>
              <a:ext uri="{FF2B5EF4-FFF2-40B4-BE49-F238E27FC236}">
                <a16:creationId xmlns:a16="http://schemas.microsoft.com/office/drawing/2014/main" id="{7B1AB9FE-36F5-4FD1-9850-DB5C5AD48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155" name="Rectangle 6154">
            <a:extLst>
              <a:ext uri="{FF2B5EF4-FFF2-40B4-BE49-F238E27FC236}">
                <a16:creationId xmlns:a16="http://schemas.microsoft.com/office/drawing/2014/main" id="{F489C2E0-4895-4B72-85EA-7EE9FAFFD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86402"/>
            <a:ext cx="12192000" cy="1371598"/>
          </a:xfrm>
          <a:prstGeom prst="rect">
            <a:avLst/>
          </a:prstGeom>
          <a:ln>
            <a:noFill/>
          </a:ln>
          <a:effectLst>
            <a:outerShdw blurRad="254000" dist="114300" dir="20340000" sx="89000" sy="89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3">
            <a:extLst>
              <a:ext uri="{FF2B5EF4-FFF2-40B4-BE49-F238E27FC236}">
                <a16:creationId xmlns:a16="http://schemas.microsoft.com/office/drawing/2014/main" id="{447D7F07-77D8-D92B-0698-31934A0DDE3A}"/>
              </a:ext>
            </a:extLst>
          </p:cNvPr>
          <p:cNvSpPr>
            <a:spLocks noChangeArrowheads="1"/>
          </p:cNvSpPr>
          <p:nvPr/>
        </p:nvSpPr>
        <p:spPr bwMode="auto">
          <a:xfrm>
            <a:off x="2867535" y="5746071"/>
            <a:ext cx="7015499" cy="85226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fontAlgn="base">
              <a:lnSpc>
                <a:spcPct val="90000"/>
              </a:lnSpc>
              <a:spcBef>
                <a:spcPct val="0"/>
              </a:spcBef>
              <a:spcAft>
                <a:spcPts val="600"/>
              </a:spcAft>
              <a:buClrTx/>
              <a:buSzTx/>
              <a:tabLst/>
            </a:pPr>
            <a:r>
              <a:rPr kumimoji="0" lang="en-US" altLang="en-US" sz="1400" b="0" i="0" u="none" strike="noStrike" cap="none" normalizeH="0" baseline="0" dirty="0">
                <a:ln>
                  <a:noFill/>
                </a:ln>
                <a:effectLst/>
                <a:latin typeface="+mj-lt"/>
                <a:ea typeface="+mj-ea"/>
                <a:cs typeface="+mj-cs"/>
              </a:rPr>
              <a:t>             Fig 5: </a:t>
            </a:r>
            <a:r>
              <a:rPr kumimoji="0" lang="en-US" altLang="en-US" sz="1400" b="0" i="0" u="none" strike="noStrike" cap="none" normalizeH="0" baseline="0" dirty="0" err="1">
                <a:ln>
                  <a:noFill/>
                </a:ln>
                <a:effectLst/>
                <a:latin typeface="+mj-lt"/>
                <a:ea typeface="+mj-ea"/>
                <a:cs typeface="+mj-cs"/>
              </a:rPr>
              <a:t>Reactome</a:t>
            </a:r>
            <a:r>
              <a:rPr kumimoji="0" lang="en-US" altLang="en-US" sz="1400" b="0" i="0" u="none" strike="noStrike" cap="none" normalizeH="0" baseline="0" dirty="0">
                <a:ln>
                  <a:noFill/>
                </a:ln>
                <a:effectLst/>
                <a:latin typeface="+mj-lt"/>
                <a:ea typeface="+mj-ea"/>
                <a:cs typeface="+mj-cs"/>
              </a:rPr>
              <a:t> </a:t>
            </a:r>
            <a:r>
              <a:rPr kumimoji="0" lang="en-US" altLang="en-US" sz="1400" b="0" i="0" u="none" strike="noStrike" cap="none" normalizeH="0" baseline="0" dirty="0" err="1">
                <a:ln>
                  <a:noFill/>
                </a:ln>
                <a:effectLst/>
                <a:latin typeface="+mj-lt"/>
                <a:ea typeface="+mj-ea"/>
                <a:cs typeface="+mj-cs"/>
              </a:rPr>
              <a:t>visualisation</a:t>
            </a:r>
            <a:r>
              <a:rPr kumimoji="0" lang="en-US" altLang="en-US" sz="1400" b="0" i="0" u="none" strike="noStrike" cap="none" normalizeH="0" baseline="0" dirty="0">
                <a:ln>
                  <a:noFill/>
                </a:ln>
                <a:effectLst/>
                <a:latin typeface="+mj-lt"/>
                <a:ea typeface="+mj-ea"/>
                <a:cs typeface="+mj-cs"/>
              </a:rPr>
              <a:t> of genes from iPSCs derivatives comparative</a:t>
            </a:r>
          </a:p>
          <a:p>
            <a:pPr marL="0" marR="0" lvl="0" indent="0" fontAlgn="base">
              <a:lnSpc>
                <a:spcPct val="90000"/>
              </a:lnSpc>
              <a:spcBef>
                <a:spcPct val="0"/>
              </a:spcBef>
              <a:spcAft>
                <a:spcPts val="600"/>
              </a:spcAft>
              <a:buClrTx/>
              <a:buSzTx/>
              <a:tabLst/>
            </a:pPr>
            <a:br>
              <a:rPr kumimoji="0" lang="en-US" altLang="en-US" sz="1400" b="0" i="0" u="none" strike="noStrike" cap="none" normalizeH="0" baseline="0" dirty="0">
                <a:ln>
                  <a:noFill/>
                </a:ln>
                <a:effectLst/>
                <a:latin typeface="+mj-lt"/>
                <a:ea typeface="+mj-ea"/>
                <a:cs typeface="+mj-cs"/>
              </a:rPr>
            </a:br>
            <a:endParaRPr kumimoji="0" lang="en-US" altLang="en-US" sz="1400" b="0" i="0" u="none" strike="noStrike" cap="none" normalizeH="0" baseline="0" dirty="0">
              <a:ln>
                <a:noFill/>
              </a:ln>
              <a:effectLst/>
              <a:latin typeface="+mj-lt"/>
              <a:ea typeface="+mj-ea"/>
              <a:cs typeface="+mj-cs"/>
            </a:endParaRPr>
          </a:p>
        </p:txBody>
      </p:sp>
      <p:pic>
        <p:nvPicPr>
          <p:cNvPr id="6148" name="Picture 4">
            <a:extLst>
              <a:ext uri="{FF2B5EF4-FFF2-40B4-BE49-F238E27FC236}">
                <a16:creationId xmlns:a16="http://schemas.microsoft.com/office/drawing/2014/main" id="{27FAF3B4-E3FC-9814-3023-E9B5E0BE76C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445" b="-2959"/>
          <a:stretch>
            <a:fillRect/>
          </a:stretch>
        </p:blipFill>
        <p:spPr bwMode="auto">
          <a:xfrm>
            <a:off x="21" y="-68826"/>
            <a:ext cx="12191979" cy="5919020"/>
          </a:xfrm>
          <a:prstGeom prst="rect">
            <a:avLst/>
          </a:prstGeom>
          <a:noFill/>
          <a:effectLst>
            <a:outerShdw blurRad="596900" dist="330200" dir="8820000" sx="87000" sy="87000" algn="ctr" rotWithShape="0">
              <a:srgbClr val="000000">
                <a:alpha val="29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6266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9C5B2B22-A1FC-81F3-EDB6-A45FB100FC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5899355"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A2D6526-2DBC-85A6-0D66-69B7F497FDC6}"/>
              </a:ext>
            </a:extLst>
          </p:cNvPr>
          <p:cNvSpPr txBox="1"/>
          <p:nvPr/>
        </p:nvSpPr>
        <p:spPr>
          <a:xfrm>
            <a:off x="6096000" y="3105834"/>
            <a:ext cx="6096000" cy="646331"/>
          </a:xfrm>
          <a:prstGeom prst="rect">
            <a:avLst/>
          </a:prstGeom>
          <a:noFill/>
        </p:spPr>
        <p:txBody>
          <a:bodyPr wrap="square">
            <a:spAutoFit/>
          </a:bodyPr>
          <a:lstStyle/>
          <a:p>
            <a:pPr algn="ctr" rtl="0">
              <a:buNone/>
            </a:pPr>
            <a:r>
              <a:rPr lang="en-US" sz="1800" b="0" i="0" u="none" strike="noStrike" dirty="0">
                <a:solidFill>
                  <a:srgbClr val="000000"/>
                </a:solidFill>
                <a:effectLst/>
                <a:latin typeface="Times New Roman" panose="02020603050405020304" pitchFamily="18" charset="0"/>
              </a:rPr>
              <a:t>Fig 6: </a:t>
            </a:r>
            <a:r>
              <a:rPr lang="en-US" sz="1800" b="0" i="0" u="none" strike="noStrike" dirty="0" err="1">
                <a:solidFill>
                  <a:srgbClr val="000000"/>
                </a:solidFill>
                <a:effectLst/>
                <a:latin typeface="Times New Roman" panose="02020603050405020304" pitchFamily="18" charset="0"/>
              </a:rPr>
              <a:t>Enrichr</a:t>
            </a:r>
            <a:r>
              <a:rPr lang="en-US" sz="1800" b="0" i="0" u="none" strike="noStrike" dirty="0">
                <a:solidFill>
                  <a:srgbClr val="000000"/>
                </a:solidFill>
                <a:effectLst/>
                <a:latin typeface="Times New Roman" panose="02020603050405020304" pitchFamily="18" charset="0"/>
              </a:rPr>
              <a:t> cluster diagram showing genes and their correlated pathways.</a:t>
            </a:r>
            <a:endParaRPr lang="en-US" b="0" dirty="0">
              <a:effectLst/>
            </a:endParaRPr>
          </a:p>
        </p:txBody>
      </p:sp>
    </p:spTree>
    <p:extLst>
      <p:ext uri="{BB962C8B-B14F-4D97-AF65-F5344CB8AC3E}">
        <p14:creationId xmlns:p14="http://schemas.microsoft.com/office/powerpoint/2010/main" val="3077900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3E176EDD-24BD-B3E1-9130-7D8FCD2552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93CF03B-D48B-FD58-9CBA-7AAB5D742047}"/>
              </a:ext>
            </a:extLst>
          </p:cNvPr>
          <p:cNvSpPr txBox="1"/>
          <p:nvPr/>
        </p:nvSpPr>
        <p:spPr>
          <a:xfrm>
            <a:off x="7475620" y="2551837"/>
            <a:ext cx="4475748" cy="1754326"/>
          </a:xfrm>
          <a:prstGeom prst="rect">
            <a:avLst/>
          </a:prstGeom>
          <a:noFill/>
        </p:spPr>
        <p:txBody>
          <a:bodyPr wrap="square">
            <a:spAutoFit/>
          </a:bodyPr>
          <a:lstStyle/>
          <a:p>
            <a:pPr algn="ctr" rtl="0">
              <a:buNone/>
            </a:pPr>
            <a:r>
              <a:rPr lang="en-US" sz="1800" b="0" i="0" u="none" strike="noStrike" dirty="0">
                <a:solidFill>
                  <a:srgbClr val="000000"/>
                </a:solidFill>
                <a:effectLst/>
                <a:latin typeface="Times New Roman" panose="02020603050405020304" pitchFamily="18" charset="0"/>
              </a:rPr>
              <a:t>Fig 7: Prediction of gene interaction from </a:t>
            </a:r>
            <a:r>
              <a:rPr lang="en-US" sz="1800" b="0" i="0" u="none" strike="noStrike" dirty="0" err="1">
                <a:solidFill>
                  <a:srgbClr val="000000"/>
                </a:solidFill>
                <a:effectLst/>
                <a:latin typeface="Times New Roman" panose="02020603050405020304" pitchFamily="18" charset="0"/>
              </a:rPr>
              <a:t>geneMANIA</a:t>
            </a:r>
            <a:r>
              <a:rPr lang="en-US" sz="1800" b="0" i="0" u="none" strike="noStrike" dirty="0">
                <a:solidFill>
                  <a:srgbClr val="000000"/>
                </a:solidFill>
                <a:effectLst/>
                <a:latin typeface="Times New Roman" panose="02020603050405020304" pitchFamily="18" charset="0"/>
              </a:rPr>
              <a:t> on the common genes and interactors. HMOX1, TGIF1, AXL, FOXP1, NR2F2 and MAPK regulators are present which are responsible for inflammation management.</a:t>
            </a:r>
            <a:endParaRPr lang="en-US" b="0" dirty="0">
              <a:effectLst/>
            </a:endParaRPr>
          </a:p>
        </p:txBody>
      </p:sp>
    </p:spTree>
    <p:extLst>
      <p:ext uri="{BB962C8B-B14F-4D97-AF65-F5344CB8AC3E}">
        <p14:creationId xmlns:p14="http://schemas.microsoft.com/office/powerpoint/2010/main" val="3503148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0751B-043C-3252-95EF-E92E2700F5A8}"/>
              </a:ext>
            </a:extLst>
          </p:cNvPr>
          <p:cNvSpPr>
            <a:spLocks noGrp="1"/>
          </p:cNvSpPr>
          <p:nvPr>
            <p:ph type="title"/>
          </p:nvPr>
        </p:nvSpPr>
        <p:spPr/>
        <p:txBody>
          <a:bodyPr>
            <a:normAutofit/>
          </a:bodyPr>
          <a:lstStyle/>
          <a:p>
            <a:r>
              <a:rPr lang="en-US" sz="3200" dirty="0"/>
              <a:t>Other figures (not included in the current draft)</a:t>
            </a:r>
            <a:endParaRPr lang="en-IN" sz="3200" dirty="0"/>
          </a:p>
        </p:txBody>
      </p:sp>
    </p:spTree>
    <p:extLst>
      <p:ext uri="{BB962C8B-B14F-4D97-AF65-F5344CB8AC3E}">
        <p14:creationId xmlns:p14="http://schemas.microsoft.com/office/powerpoint/2010/main" val="1657046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number of circles&#10;&#10;AI-generated content may be incorrect.">
            <a:extLst>
              <a:ext uri="{FF2B5EF4-FFF2-40B4-BE49-F238E27FC236}">
                <a16:creationId xmlns:a16="http://schemas.microsoft.com/office/drawing/2014/main" id="{0025475C-5004-1139-3CF5-ED7608307843}"/>
              </a:ext>
            </a:extLst>
          </p:cNvPr>
          <p:cNvPicPr>
            <a:picLocks noChangeAspect="1"/>
          </p:cNvPicPr>
          <p:nvPr/>
        </p:nvPicPr>
        <p:blipFill>
          <a:blip r:embed="rId2"/>
          <a:stretch>
            <a:fillRect/>
          </a:stretch>
        </p:blipFill>
        <p:spPr>
          <a:xfrm>
            <a:off x="479809" y="25963"/>
            <a:ext cx="5616191" cy="5616191"/>
          </a:xfrm>
          <a:prstGeom prst="rect">
            <a:avLst/>
          </a:prstGeom>
        </p:spPr>
      </p:pic>
      <p:pic>
        <p:nvPicPr>
          <p:cNvPr id="3" name="Picture 2" descr="A diagram of a number of different colored circles&#10;&#10;AI-generated content may be incorrect.">
            <a:extLst>
              <a:ext uri="{FF2B5EF4-FFF2-40B4-BE49-F238E27FC236}">
                <a16:creationId xmlns:a16="http://schemas.microsoft.com/office/drawing/2014/main" id="{B6068C5B-8AA9-E440-5EB7-8FBF58429EF8}"/>
              </a:ext>
            </a:extLst>
          </p:cNvPr>
          <p:cNvPicPr>
            <a:picLocks noChangeAspect="1"/>
          </p:cNvPicPr>
          <p:nvPr/>
        </p:nvPicPr>
        <p:blipFill>
          <a:blip r:embed="rId3"/>
          <a:stretch>
            <a:fillRect/>
          </a:stretch>
        </p:blipFill>
        <p:spPr>
          <a:xfrm>
            <a:off x="6096000" y="25963"/>
            <a:ext cx="5616191" cy="5616191"/>
          </a:xfrm>
          <a:prstGeom prst="rect">
            <a:avLst/>
          </a:prstGeom>
        </p:spPr>
      </p:pic>
      <p:sp>
        <p:nvSpPr>
          <p:cNvPr id="4" name="TextBox 3">
            <a:extLst>
              <a:ext uri="{FF2B5EF4-FFF2-40B4-BE49-F238E27FC236}">
                <a16:creationId xmlns:a16="http://schemas.microsoft.com/office/drawing/2014/main" id="{9C1320CC-D0CF-BF99-4EC5-F72263900466}"/>
              </a:ext>
            </a:extLst>
          </p:cNvPr>
          <p:cNvSpPr txBox="1"/>
          <p:nvPr/>
        </p:nvSpPr>
        <p:spPr>
          <a:xfrm>
            <a:off x="1756656" y="5510238"/>
            <a:ext cx="8526378" cy="646331"/>
          </a:xfrm>
          <a:prstGeom prst="rect">
            <a:avLst/>
          </a:prstGeom>
          <a:noFill/>
        </p:spPr>
        <p:txBody>
          <a:bodyPr wrap="square">
            <a:spAutoFit/>
          </a:bodyPr>
          <a:lstStyle/>
          <a:p>
            <a:r>
              <a:rPr lang="en-US" dirty="0">
                <a:solidFill>
                  <a:srgbClr val="000000"/>
                </a:solidFill>
                <a:latin typeface="Times New Roman" panose="02020603050405020304" pitchFamily="18" charset="0"/>
              </a:rPr>
              <a:t>Figure</a:t>
            </a:r>
            <a:r>
              <a:rPr lang="en-US" sz="1800" b="0" i="0" u="none" strike="noStrike" dirty="0">
                <a:solidFill>
                  <a:srgbClr val="000000"/>
                </a:solidFill>
                <a:effectLst/>
                <a:latin typeface="Times New Roman" panose="02020603050405020304" pitchFamily="18" charset="0"/>
              </a:rPr>
              <a:t>: Venn diagram of common genes in iPSCs vs ESC comparative. NO common downregulated genes, 22 common upregulated genes</a:t>
            </a:r>
            <a:endParaRPr lang="en-IN" dirty="0"/>
          </a:p>
        </p:txBody>
      </p:sp>
    </p:spTree>
    <p:extLst>
      <p:ext uri="{BB962C8B-B14F-4D97-AF65-F5344CB8AC3E}">
        <p14:creationId xmlns:p14="http://schemas.microsoft.com/office/powerpoint/2010/main" val="1755360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60A483-5EEE-1D49-EA39-D52C01D7AF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9925" y="670760"/>
            <a:ext cx="5772150" cy="3984957"/>
          </a:xfrm>
          <a:prstGeom prst="rect">
            <a:avLst/>
          </a:prstGeom>
        </p:spPr>
      </p:pic>
      <p:sp>
        <p:nvSpPr>
          <p:cNvPr id="4" name="TextBox 3">
            <a:extLst>
              <a:ext uri="{FF2B5EF4-FFF2-40B4-BE49-F238E27FC236}">
                <a16:creationId xmlns:a16="http://schemas.microsoft.com/office/drawing/2014/main" id="{4894AD58-6E22-6BEE-AE17-57B4CADF970C}"/>
              </a:ext>
            </a:extLst>
          </p:cNvPr>
          <p:cNvSpPr txBox="1"/>
          <p:nvPr/>
        </p:nvSpPr>
        <p:spPr>
          <a:xfrm>
            <a:off x="1652337" y="5261811"/>
            <a:ext cx="9609221" cy="369332"/>
          </a:xfrm>
          <a:prstGeom prst="rect">
            <a:avLst/>
          </a:prstGeom>
          <a:noFill/>
        </p:spPr>
        <p:txBody>
          <a:bodyPr wrap="square" rtlCol="0">
            <a:spAutoFit/>
          </a:bodyPr>
          <a:lstStyle/>
          <a:p>
            <a:pPr algn="ctr"/>
            <a:r>
              <a:rPr lang="en-US" dirty="0"/>
              <a:t>Fig: Venn diagram depicting common genes in iPSCs derivative comparatives</a:t>
            </a:r>
            <a:endParaRPr lang="en-IN" dirty="0"/>
          </a:p>
        </p:txBody>
      </p:sp>
    </p:spTree>
    <p:extLst>
      <p:ext uri="{BB962C8B-B14F-4D97-AF65-F5344CB8AC3E}">
        <p14:creationId xmlns:p14="http://schemas.microsoft.com/office/powerpoint/2010/main" val="18422777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651</Words>
  <Application>Microsoft Office PowerPoint</Application>
  <PresentationFormat>Widescreen</PresentationFormat>
  <Paragraphs>241</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Times New Roman</vt:lpstr>
      <vt:lpstr>Office Theme</vt:lpstr>
      <vt:lpstr>Functional Analysis in ESCs, iPSCs and Lineage-Specific Derivatives</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Other figures (not included in the current draft)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Arooja Tyagi</dc:creator>
  <cp:lastModifiedBy>Arooja Tyagi</cp:lastModifiedBy>
  <cp:revision>2</cp:revision>
  <dcterms:created xsi:type="dcterms:W3CDTF">2025-12-18T11:30:31Z</dcterms:created>
  <dcterms:modified xsi:type="dcterms:W3CDTF">2025-12-19T09:51:06Z</dcterms:modified>
</cp:coreProperties>
</file>